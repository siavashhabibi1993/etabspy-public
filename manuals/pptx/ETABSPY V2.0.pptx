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6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8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3" r:id="rId4"/>
    <p:sldMasterId id="2147483796" r:id="rId5"/>
    <p:sldMasterId id="2147483809" r:id="rId6"/>
    <p:sldMasterId id="2147483818" r:id="rId7"/>
    <p:sldMasterId id="2147483825" r:id="rId8"/>
    <p:sldMasterId id="2147483837" r:id="rId9"/>
    <p:sldMasterId id="2147483841" r:id="rId10"/>
    <p:sldMasterId id="2147483847" r:id="rId11"/>
    <p:sldMasterId id="2147483853" r:id="rId12"/>
    <p:sldMasterId id="2147483877" r:id="rId13"/>
  </p:sldMasterIdLst>
  <p:notesMasterIdLst>
    <p:notesMasterId r:id="rId19"/>
  </p:notesMasterIdLst>
  <p:handoutMasterIdLst>
    <p:handoutMasterId r:id="rId20"/>
  </p:handoutMasterIdLst>
  <p:sldIdLst>
    <p:sldId id="270" r:id="rId14"/>
    <p:sldId id="460" r:id="rId15"/>
    <p:sldId id="457" r:id="rId16"/>
    <p:sldId id="458" r:id="rId17"/>
    <p:sldId id="455" r:id="rId18"/>
  </p:sldIdLst>
  <p:sldSz cx="12192000" cy="6858000"/>
  <p:notesSz cx="9144000" cy="6858000"/>
  <p:embeddedFontLst>
    <p:embeddedFont>
      <p:font typeface="Söhne" panose="020B0604020202020204" charset="0"/>
      <p:regular r:id="rId21"/>
      <p:bold r:id="rId22"/>
      <p:italic r:id="rId23"/>
      <p:boldItalic r:id="rId24"/>
    </p:embeddedFont>
    <p:embeddedFont>
      <p:font typeface="Söhne Halbfett" panose="020B0604020202020204" charset="0"/>
      <p:bold r:id="rId25"/>
      <p:boldItalic r:id="rId26"/>
    </p:embeddedFont>
    <p:embeddedFont>
      <p:font typeface="Söhne Kräftig" panose="020B0604020202020204" charset="0"/>
      <p:regular r:id="rId27"/>
      <p:italic r:id="rId28"/>
    </p:embeddedFont>
    <p:embeddedFont>
      <p:font typeface="Söhne Leicht" panose="020B0604020202020204" charset="0"/>
      <p:regular r:id="rId29"/>
      <p:italic r:id="rId30"/>
    </p:embeddedFont>
    <p:embeddedFont>
      <p:font typeface="Trebuchet MS" panose="020B0603020202020204" pitchFamily="34" charset="0"/>
      <p:regular r:id="rId31"/>
      <p:bold r:id="rId32"/>
      <p:italic r:id="rId33"/>
      <p:bold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ample Cover and Section Break" id="{043E9710-47C0-40EA-88BD-C9D21E6CFE61}">
          <p14:sldIdLst>
            <p14:sldId id="270"/>
          </p14:sldIdLst>
        </p14:section>
        <p14:section name="Template" id="{B53F33B0-B427-4BCD-A590-5801DEBB5D8D}">
          <p14:sldIdLst>
            <p14:sldId id="460"/>
            <p14:sldId id="457"/>
            <p14:sldId id="458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F9F9F"/>
    <a:srgbClr val="E35920"/>
    <a:srgbClr val="F5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4548D-D8FE-4527-A729-C721A8A93A39}" v="38" dt="2026-02-11T13:45:04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0427" autoAdjust="0"/>
  </p:normalViewPr>
  <p:slideViewPr>
    <p:cSldViewPr snapToGrid="0" showGuides="1">
      <p:cViewPr>
        <p:scale>
          <a:sx n="75" d="100"/>
          <a:sy n="75" d="100"/>
        </p:scale>
        <p:origin x="221" y="1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15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avash Habibi" userId="a56df0d3-6b0c-4db0-90ec-e8bee67db224" providerId="ADAL" clId="{3E364DED-07E2-4416-B421-A8CF4A59E41E}"/>
    <pc:docChg chg="modSld">
      <pc:chgData name="Siavash Habibi" userId="a56df0d3-6b0c-4db0-90ec-e8bee67db224" providerId="ADAL" clId="{3E364DED-07E2-4416-B421-A8CF4A59E41E}" dt="2026-02-11T13:45:04.296" v="37" actId="20577"/>
      <pc:docMkLst>
        <pc:docMk/>
      </pc:docMkLst>
      <pc:sldChg chg="modSp">
        <pc:chgData name="Siavash Habibi" userId="a56df0d3-6b0c-4db0-90ec-e8bee67db224" providerId="ADAL" clId="{3E364DED-07E2-4416-B421-A8CF4A59E41E}" dt="2026-02-11T13:45:04.296" v="37" actId="20577"/>
        <pc:sldMkLst>
          <pc:docMk/>
          <pc:sldMk cId="1310332689" sldId="460"/>
        </pc:sldMkLst>
        <pc:spChg chg="mod">
          <ac:chgData name="Siavash Habibi" userId="a56df0d3-6b0c-4db0-90ec-e8bee67db224" providerId="ADAL" clId="{3E364DED-07E2-4416-B421-A8CF4A59E41E}" dt="2026-02-11T13:45:04.296" v="37" actId="20577"/>
          <ac:spMkLst>
            <pc:docMk/>
            <pc:sldMk cId="1310332689" sldId="460"/>
            <ac:spMk id="3" creationId="{87E93B3A-51B5-0D6D-E06E-05545A4DD3EC}"/>
          </ac:spMkLst>
        </pc:spChg>
        <pc:spChg chg="mod">
          <ac:chgData name="Siavash Habibi" userId="a56df0d3-6b0c-4db0-90ec-e8bee67db224" providerId="ADAL" clId="{3E364DED-07E2-4416-B421-A8CF4A59E41E}" dt="2026-02-11T13:44:37.358" v="10" actId="20577"/>
          <ac:spMkLst>
            <pc:docMk/>
            <pc:sldMk cId="1310332689" sldId="460"/>
            <ac:spMk id="7" creationId="{98689CAE-69B6-8EAD-C58A-4FFA222EF8E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Dashboard%20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23637933046265"/>
          <c:y val="0.18142284074094714"/>
          <c:w val="0.80966524537941065"/>
          <c:h val="0.66192602672047474"/>
        </c:manualLayout>
      </c:layout>
      <c:lineChart>
        <c:grouping val="standard"/>
        <c:varyColors val="0"/>
        <c:ser>
          <c:idx val="3"/>
          <c:order val="0"/>
          <c:tx>
            <c:v>2023</c:v>
          </c:tx>
          <c:spPr>
            <a:ln w="28575" cap="rnd">
              <a:solidFill>
                <a:srgbClr val="009DE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9DE0"/>
              </a:solidFill>
              <a:ln w="9525">
                <a:solidFill>
                  <a:srgbClr val="009DE0"/>
                </a:solidFill>
              </a:ln>
              <a:effectLst/>
            </c:spPr>
          </c:marker>
          <c:cat>
            <c:strRef>
              <c:f>'[Dashboard Report.xlsx]Dashboard Data - March'!$B$40:$M$40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'[Dashboard Report.xlsx]Dashboard Data - March'!$B$43:$N$43</c:f>
              <c:numCache>
                <c:formatCode>0.0%</c:formatCode>
                <c:ptCount val="13"/>
                <c:pt idx="0">
                  <c:v>0.99832402234636874</c:v>
                </c:pt>
                <c:pt idx="1">
                  <c:v>0.99408866995073897</c:v>
                </c:pt>
                <c:pt idx="2">
                  <c:v>0.99356025758969646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5B-4F58-B637-1E6682C779B5}"/>
            </c:ext>
          </c:extLst>
        </c:ser>
        <c:ser>
          <c:idx val="0"/>
          <c:order val="1"/>
          <c:tx>
            <c:v>2022</c:v>
          </c:tx>
          <c:spPr>
            <a:ln w="28575" cap="rnd">
              <a:solidFill>
                <a:srgbClr val="00008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86"/>
              </a:solidFill>
              <a:ln w="9525">
                <a:solidFill>
                  <a:srgbClr val="000086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rgbClr val="000086"/>
                </a:solidFill>
                <a:ln w="9525">
                  <a:solidFill>
                    <a:srgbClr val="000086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008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875B-4F58-B637-1E6682C779B5}"/>
              </c:ext>
            </c:extLst>
          </c:dPt>
          <c:cat>
            <c:strRef>
              <c:f>'[Dashboard Report.xlsx]Dashboard Data - March'!$B$40:$M$40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'[Dashboard Report.xlsx]Dashboard Data - March'!$B$38:$N$38</c:f>
              <c:numCache>
                <c:formatCode>0.0%</c:formatCode>
                <c:ptCount val="13"/>
                <c:pt idx="0">
                  <c:v>0.98866855524079322</c:v>
                </c:pt>
                <c:pt idx="1">
                  <c:v>0.99509803921568629</c:v>
                </c:pt>
                <c:pt idx="2">
                  <c:v>0.99234516353514268</c:v>
                </c:pt>
                <c:pt idx="3">
                  <c:v>0.98539638386648121</c:v>
                </c:pt>
                <c:pt idx="4">
                  <c:v>0.98550724637681164</c:v>
                </c:pt>
                <c:pt idx="5">
                  <c:v>0.9821757836508912</c:v>
                </c:pt>
                <c:pt idx="6">
                  <c:v>0.99149194773625038</c:v>
                </c:pt>
                <c:pt idx="7">
                  <c:v>0.99079189686924496</c:v>
                </c:pt>
                <c:pt idx="8">
                  <c:v>0.99227569815805106</c:v>
                </c:pt>
                <c:pt idx="9">
                  <c:v>0.99301513387660068</c:v>
                </c:pt>
                <c:pt idx="10">
                  <c:v>0.99189345686160968</c:v>
                </c:pt>
                <c:pt idx="11">
                  <c:v>0.99769982748706154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75B-4F58-B637-1E6682C779B5}"/>
            </c:ext>
          </c:extLst>
        </c:ser>
        <c:ser>
          <c:idx val="2"/>
          <c:order val="2"/>
          <c:tx>
            <c:v>2021</c:v>
          </c:tx>
          <c:spPr>
            <a:ln w="28575" cap="rnd">
              <a:solidFill>
                <a:srgbClr val="99999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  <a:effectLst/>
            </c:spPr>
          </c:marker>
          <c:cat>
            <c:strRef>
              <c:f>'[Dashboard Report.xlsx]Dashboard Data - March'!$B$40:$M$40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'[Dashboard Report.xlsx]Dashboard Data - March'!$B$33:$N$33</c:f>
              <c:numCache>
                <c:formatCode>0.0%</c:formatCode>
                <c:ptCount val="13"/>
                <c:pt idx="0">
                  <c:v>0.99477533960292586</c:v>
                </c:pt>
                <c:pt idx="1">
                  <c:v>0.99063475546305935</c:v>
                </c:pt>
                <c:pt idx="2">
                  <c:v>0.98857736240913807</c:v>
                </c:pt>
                <c:pt idx="3">
                  <c:v>0.98558187435633371</c:v>
                </c:pt>
                <c:pt idx="4">
                  <c:v>0.98984771573604058</c:v>
                </c:pt>
                <c:pt idx="5">
                  <c:v>0.98477564102564108</c:v>
                </c:pt>
                <c:pt idx="6">
                  <c:v>0.9920697858842189</c:v>
                </c:pt>
                <c:pt idx="7">
                  <c:v>0.99063962558502339</c:v>
                </c:pt>
                <c:pt idx="8">
                  <c:v>0.98916408668730649</c:v>
                </c:pt>
                <c:pt idx="9">
                  <c:v>0.98765432098765427</c:v>
                </c:pt>
                <c:pt idx="10">
                  <c:v>0.99003831417624522</c:v>
                </c:pt>
                <c:pt idx="11">
                  <c:v>0.99100449775112442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75B-4F58-B637-1E6682C779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1267760"/>
        <c:axId val="681270056"/>
        <c:extLst/>
      </c:lineChart>
      <c:catAx>
        <c:axId val="681267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270056"/>
        <c:crosses val="autoZero"/>
        <c:auto val="1"/>
        <c:lblAlgn val="ctr"/>
        <c:lblOffset val="100"/>
        <c:noMultiLvlLbl val="1"/>
      </c:catAx>
      <c:valAx>
        <c:axId val="681270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267760"/>
        <c:crosses val="autoZero"/>
        <c:crossBetween val="between"/>
        <c:majorUnit val="1.0000000000000002E-2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831306896883052"/>
          <c:y val="2.7004212231844984E-2"/>
          <c:w val="0.44076493420861945"/>
          <c:h val="7.59498784810449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7C0FD2-1ACB-480B-BCD8-8217A94ED6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AD0CF-B404-4BCE-8CE1-7DA049E1F3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5CADE-EDF5-4D1B-AAFD-D6CD47CD3365}" type="datetimeFigureOut">
              <a:rPr lang="en-US" smtClean="0">
                <a:latin typeface="Arial" panose="020B0604020202020204" pitchFamily="34" charset="0"/>
              </a:rPr>
              <a:t>2/10/2026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BAE26-76C6-494E-B67F-EAF6F5CAF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8ED54-1847-4CB3-9EB3-7EAC5B8316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BD3C6-4769-43C7-B094-0E005D5607C2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598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D37B5-D6D8-4726-9FC8-AA5BCC9DA81E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C6228-B899-4BE1-8DE8-98CDA1161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C6228-B899-4BE1-8DE8-98CDA11615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09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8A84-8BA0-28AB-18D9-F6132B18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1A5BD-00EE-A160-4C9E-7E5072884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EDD45-822F-04C2-162E-9BD94071B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78208-12D1-E8C7-A9BD-789771EF2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C6228-B899-4BE1-8DE8-98CDA11615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98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C6228-B899-4BE1-8DE8-98CDA11615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19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13" Type="http://schemas.openxmlformats.org/officeDocument/2006/relationships/image" Target="../media/image36.jpeg"/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12" Type="http://schemas.openxmlformats.org/officeDocument/2006/relationships/image" Target="../media/image35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9.jpg"/><Relationship Id="rId11" Type="http://schemas.openxmlformats.org/officeDocument/2006/relationships/image" Target="../media/image34.jpeg"/><Relationship Id="rId5" Type="http://schemas.openxmlformats.org/officeDocument/2006/relationships/image" Target="../media/image28.jpg"/><Relationship Id="rId10" Type="http://schemas.openxmlformats.org/officeDocument/2006/relationships/image" Target="../media/image33.png"/><Relationship Id="rId4" Type="http://schemas.openxmlformats.org/officeDocument/2006/relationships/image" Target="../media/image27.jpg"/><Relationship Id="rId9" Type="http://schemas.openxmlformats.org/officeDocument/2006/relationships/image" Target="../media/image32.jpeg"/><Relationship Id="rId14" Type="http://schemas.openxmlformats.org/officeDocument/2006/relationships/image" Target="../media/image37.jp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8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chart" Target="../charts/chart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E67E992B-9104-B314-8A27-BBF2ADDEEB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tIns="173736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Follow directions above slide in pasteboard in red to add photo. Zoom out if you can’t see the instructions.</a:t>
            </a:r>
          </a:p>
        </p:txBody>
      </p:sp>
      <p:pic>
        <p:nvPicPr>
          <p:cNvPr id="2" name="Grid" descr="A picture containing symmetry, screenshot, pattern, line" hidden="1">
            <a:extLst>
              <a:ext uri="{FF2B5EF4-FFF2-40B4-BE49-F238E27FC236}">
                <a16:creationId xmlns:a16="http://schemas.microsoft.com/office/drawing/2014/main" id="{B55B870E-7BA2-64BB-F5D1-3433C3C3E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79A105-10B7-40AA-BFA4-707B28F183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029" y="2708322"/>
            <a:ext cx="6331313" cy="3700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all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SmartArt Placeholder 21">
            <a:extLst>
              <a:ext uri="{FF2B5EF4-FFF2-40B4-BE49-F238E27FC236}">
                <a16:creationId xmlns:a16="http://schemas.microsoft.com/office/drawing/2014/main" id="{B696260E-B4AD-F88B-4756-11F5874C6185}"/>
              </a:ext>
            </a:extLst>
          </p:cNvPr>
          <p:cNvSpPr>
            <a:spLocks noGrp="1"/>
          </p:cNvSpPr>
          <p:nvPr>
            <p:ph type="dgm" sz="quarter" idx="63" hasCustomPrompt="1"/>
          </p:nvPr>
        </p:nvSpPr>
        <p:spPr>
          <a:xfrm>
            <a:off x="590546" y="590064"/>
            <a:ext cx="2441448" cy="484632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07C614-1D05-FFFC-11F4-9F3F66AB9CF0}"/>
              </a:ext>
            </a:extLst>
          </p:cNvPr>
          <p:cNvSpPr txBox="1"/>
          <p:nvPr userDrawn="1"/>
        </p:nvSpPr>
        <p:spPr>
          <a:xfrm>
            <a:off x="0" y="-110266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Note: To add the correct style of cover for this presentation format, select the background image placeholder frame, open the Canto Connector, search for “PowerPoint Style 1 Cover” including the parentheses, choose your favorite option, and click the plus icon that appears when you hover over your selection to insert it into the frame.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39C58266-2DA3-2DC8-84A1-EF4D8B590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1029" y="3233368"/>
            <a:ext cx="6331313" cy="12286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 b="1" i="0" cap="none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39340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9">
          <p15:clr>
            <a:srgbClr val="FBAE40"/>
          </p15:clr>
        </p15:guide>
        <p15:guide id="2" orient="horz" pos="36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E521D84E-780E-B91C-5C64-1BCE8B1738D7}"/>
              </a:ext>
            </a:extLst>
          </p:cNvPr>
          <p:cNvSpPr/>
          <p:nvPr userDrawn="1"/>
        </p:nvSpPr>
        <p:spPr>
          <a:xfrm rot="5400000">
            <a:off x="-1" y="0"/>
            <a:ext cx="3029836" cy="302983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DF8E6E18-B079-B153-B92C-5A5F04AC0E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BC6DF73-6AAB-4250-9F42-30E5C1D6D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29838" y="4366698"/>
            <a:ext cx="7745737" cy="10631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Optional summary introduction. Delete this textbox if not including a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CC94D-7D2A-4468-91C5-C4D88D7CE8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29836" y="2619956"/>
            <a:ext cx="8092254" cy="143209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 in sentence case to span two lines</a:t>
            </a:r>
          </a:p>
        </p:txBody>
      </p:sp>
    </p:spTree>
    <p:extLst>
      <p:ext uri="{BB962C8B-B14F-4D97-AF65-F5344CB8AC3E}">
        <p14:creationId xmlns:p14="http://schemas.microsoft.com/office/powerpoint/2010/main" val="2092635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F0CF18-9AC2-687A-B666-3EA4478ED0CC}"/>
              </a:ext>
            </a:extLst>
          </p:cNvPr>
          <p:cNvSpPr>
            <a:spLocks noGrp="1"/>
          </p:cNvSpPr>
          <p:nvPr>
            <p:ph sz="quarter" idx="54"/>
          </p:nvPr>
        </p:nvSpPr>
        <p:spPr>
          <a:xfrm>
            <a:off x="523875" y="1828799"/>
            <a:ext cx="6178849" cy="48021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627C752-C998-40FA-BBD4-EA94BF22B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175" y="365125"/>
            <a:ext cx="11096625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B70D0-F8B1-46F5-A4AF-9C57B27BFD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59378" y="1926284"/>
            <a:ext cx="4432621" cy="850392"/>
          </a:xfrm>
        </p:spPr>
        <p:txBody>
          <a:bodyPr tIns="91440" bIns="0"/>
          <a:lstStyle>
            <a:lvl1pPr marL="0" indent="0">
              <a:buFont typeface="Arial" panose="020B0604020202020204" pitchFamily="34" charset="0"/>
              <a:buNone/>
              <a:defRPr sz="44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2pPr>
            <a:lvl3pPr marL="9144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3pPr>
            <a:lvl4pPr marL="13716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4pPr>
            <a:lvl5pPr marL="18288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5pPr>
          </a:lstStyle>
          <a:p>
            <a:pPr lvl="0"/>
            <a:r>
              <a:rPr lang="en-US" dirty="0"/>
              <a:t>### Callout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E03ABA3-9582-45BD-BAD3-67B787192C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59379" y="4200186"/>
            <a:ext cx="4432621" cy="850392"/>
          </a:xfrm>
        </p:spPr>
        <p:txBody>
          <a:bodyPr tIns="91440" bIns="0"/>
          <a:lstStyle>
            <a:lvl1pPr marL="0" indent="0">
              <a:buFont typeface="Arial" panose="020B0604020202020204" pitchFamily="34" charset="0"/>
              <a:buNone/>
              <a:defRPr sz="44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2pPr>
            <a:lvl3pPr marL="9144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3pPr>
            <a:lvl4pPr marL="13716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4pPr>
            <a:lvl5pPr marL="1828800" indent="0">
              <a:buNone/>
              <a:defRPr sz="4400">
                <a:solidFill>
                  <a:schemeClr val="bg2"/>
                </a:solidFill>
                <a:latin typeface="Söhne Kräftig" panose="020B0603030202060203" pitchFamily="34" charset="0"/>
              </a:defRPr>
            </a:lvl5pPr>
          </a:lstStyle>
          <a:p>
            <a:pPr lvl="0"/>
            <a:r>
              <a:rPr lang="en-US" dirty="0"/>
              <a:t>### Callout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295F93E-B146-4657-84B3-CECE40C307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69150" y="5219700"/>
            <a:ext cx="4438650" cy="966788"/>
          </a:xfrm>
        </p:spPr>
        <p:txBody>
          <a:bodyPr tIns="0"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Callout description text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C785F8B9-F4C3-4CAA-8AEB-B2179C7B2F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9112" y="2963855"/>
            <a:ext cx="4432621" cy="966788"/>
          </a:xfrm>
        </p:spPr>
        <p:txBody>
          <a:bodyPr tIns="0"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Callout description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8DCD38A-8A75-7DB0-C81A-7914401A7BC9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7144239" y="4384925"/>
            <a:ext cx="485007" cy="465607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CFE351ED-1A7E-5A4A-15EC-2B94D532BE3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7144240" y="2137499"/>
            <a:ext cx="485007" cy="465607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108C27-AF65-0A4A-9EAF-7C66F68370F7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DA5CAA90-6F50-137B-6BE4-5993950FEB1E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F62A04B-E877-9757-C0B9-149624248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9728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627C752-C998-40FA-BBD4-EA94BF22B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175" y="365125"/>
            <a:ext cx="11096625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2B4BF-46A2-480E-97CB-3C742C46AC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875" y="1828800"/>
            <a:ext cx="11096625" cy="4802187"/>
          </a:xfrm>
        </p:spPr>
        <p:txBody>
          <a:bodyPr lIns="0" rIns="0"/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73B33D-7933-9AC1-2950-8CF076DD07AF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EB891B81-ACB1-D33C-B6B9-B75AE97A8CA7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C4B2413-F5EF-1BD4-F029-2894BB8FC6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8388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Gray Box with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4AE480F-BFA4-F494-EBA5-B02E443778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-47625" y="0"/>
            <a:ext cx="5049225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2169A70-DF61-46E9-9CFB-50ACDF972D2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7343" y="733424"/>
            <a:ext cx="5049225" cy="540175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D6D7257-62EB-429E-A13A-8307475DF1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8788" y="733424"/>
            <a:ext cx="5049225" cy="105810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000" dirty="0">
                <a:latin typeface="Söhne Halbfett" panose="020B0703030202060203" pitchFamily="34" charset="0"/>
              </a:rPr>
              <a:t>Two line title in sentence case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2423D51-6B90-45E7-B9E4-C951A9E250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8788" y="1791526"/>
            <a:ext cx="5001906" cy="434574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F38D22-A67E-C94B-FFDE-C32946BD1040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2BEE316F-6A86-4B75-83D8-6986D2FE737E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9559968-AA5F-EF85-AB80-CA26A7FD35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7673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Gray Box with Text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457628A-2DCE-A1C8-5882-D28859FD7134}"/>
              </a:ext>
            </a:extLst>
          </p:cNvPr>
          <p:cNvSpPr txBox="1">
            <a:spLocks/>
          </p:cNvSpPr>
          <p:nvPr userDrawn="1"/>
        </p:nvSpPr>
        <p:spPr>
          <a:xfrm>
            <a:off x="7189788" y="0"/>
            <a:ext cx="5002212" cy="6858000"/>
          </a:xfrm>
          <a:prstGeom prst="rect">
            <a:avLst/>
          </a:prstGeom>
          <a:solidFill>
            <a:srgbClr val="EDEDED"/>
          </a:solidFill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None/>
              <a:defRPr sz="28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009DE0"/>
              </a:buClr>
              <a:buSzPct val="50000"/>
              <a:buFont typeface="Wingdings 3" panose="05040102010807070707" pitchFamily="18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öhne Leicht" panose="020B0303030202060203" pitchFamily="34" charset="0"/>
                <a:ea typeface="+mn-ea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Söhne Leicht" panose="020B0303030202060203" pitchFamily="34" charset="0"/>
              <a:ea typeface="+mn-ea"/>
              <a:cs typeface="+mn-cs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2169A70-DF61-46E9-9CFB-50ACDF972D2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93058" y="733424"/>
            <a:ext cx="5049225" cy="540385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D6D7257-62EB-429E-A13A-8307475DF1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44" y="733424"/>
            <a:ext cx="5049225" cy="105810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000" dirty="0">
                <a:latin typeface="Söhne Halbfett" panose="020B0703030202060203" pitchFamily="34" charset="0"/>
              </a:rPr>
              <a:t>Two line title in sentence case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2423D51-6B90-45E7-B9E4-C951A9E250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7344" y="1791526"/>
            <a:ext cx="5001906" cy="434574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F4406542-095E-0E77-512A-B3EF52480E0B}"/>
              </a:ext>
            </a:extLst>
          </p:cNvPr>
          <p:cNvSpPr/>
          <p:nvPr userDrawn="1"/>
        </p:nvSpPr>
        <p:spPr>
          <a:xfrm rot="5400000">
            <a:off x="-1" y="1"/>
            <a:ext cx="577050" cy="57705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C08A577-DAA9-B236-E5F6-B367161CEB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692" y="160884"/>
            <a:ext cx="193664" cy="2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465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r 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A5A40-71B9-49BE-975D-85D28A137DC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75400" y="0"/>
            <a:ext cx="5816600" cy="685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830FF4E-31BB-4F5B-BAA7-27BDF61156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18890" y="2758727"/>
            <a:ext cx="5049225" cy="345474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1A188A7-A264-4FA0-ACE2-3B5E7D728D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891" y="1369680"/>
            <a:ext cx="5049225" cy="1058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000" dirty="0">
                <a:latin typeface="Söhne Halbfett" panose="020B0703030202060203" pitchFamily="34" charset="0"/>
              </a:rPr>
              <a:t>Two line title in sentence case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49D8D94-A7B9-081A-954F-F3C2C7CE5C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2499284" y="0"/>
            <a:ext cx="5816600" cy="685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1BE09457-F736-A410-CA26-C6A529EEADED}"/>
              </a:ext>
            </a:extLst>
          </p:cNvPr>
          <p:cNvSpPr/>
          <p:nvPr userDrawn="1"/>
        </p:nvSpPr>
        <p:spPr>
          <a:xfrm rot="5400000">
            <a:off x="-1" y="1"/>
            <a:ext cx="577050" cy="57705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D302F79-0D36-DA5C-C721-461CDDD5E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692" y="160884"/>
            <a:ext cx="193664" cy="2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69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r Chart with Text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04E7E6D7-5CAF-472F-8C43-7E8D34879067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0" y="0"/>
            <a:ext cx="6096000" cy="685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D6D7257-62EB-429E-A13A-8307475DF1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37388" y="1369680"/>
            <a:ext cx="5049225" cy="1058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000" dirty="0">
                <a:latin typeface="Söhne Halbfett" panose="020B0703030202060203" pitchFamily="34" charset="0"/>
              </a:rPr>
              <a:t>Two line title in sentence case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2423D51-6B90-45E7-B9E4-C951A9E250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37388" y="2758727"/>
            <a:ext cx="5001906" cy="345474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39991D-061D-B7C1-8384-E70C198DA4C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6464300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9D5E0D-7EF1-A474-0E08-A69AC94505E4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DEE73D12-26AC-91C3-EFD6-D05AED25071F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937A0FB-0C27-2053-79A3-F4DBCEC0EB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7107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8DA8A71D-2ECE-964E-7D23-7C73CE90FCD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0" y="3429000"/>
            <a:ext cx="12192000" cy="3429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E70AD3FA-FBA9-12E1-0628-976BBEC9A7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822" y="1093998"/>
            <a:ext cx="5757514" cy="1992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Enter text here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5CED5C3-B43D-AD47-A2DD-B8226535DF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68568" y="3875405"/>
            <a:ext cx="5763768" cy="2330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Enter text here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8F3B293-83F3-7BE2-EB15-E78F12EB3FB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41348" y="642938"/>
            <a:ext cx="4780859" cy="5573711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BD59B6-E28F-9211-B04B-9475C9F7A776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646FE86-B583-548D-33E9-E631BF84E174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7051495-E01D-56AE-4152-168FE31B59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2011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hoto 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627C752-C998-40FA-BBD4-EA94BF22B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876" y="346076"/>
            <a:ext cx="6095999" cy="596899"/>
          </a:xfrm>
          <a:prstGeom prst="rect">
            <a:avLst/>
          </a:prstGeom>
        </p:spPr>
        <p:txBody>
          <a:bodyPr vert="horz" lIns="0" tIns="45720" rIns="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line one: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2B4BF-46A2-480E-97CB-3C742C46AC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875" y="1971675"/>
            <a:ext cx="11191875" cy="4521200"/>
          </a:xfrm>
        </p:spPr>
        <p:txBody>
          <a:bodyPr lIns="0" rIns="0" numCol="2" spcCol="45720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69391-F39F-4DDC-A683-E0119EF7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875" y="1047750"/>
            <a:ext cx="6181725" cy="728663"/>
          </a:xfr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line two 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4502682-BFFD-4BE9-97AC-AED9D37F7C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5600" y="1"/>
            <a:ext cx="5486401" cy="165735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B5A4BE-CF0C-C6BB-B72B-1EBF2822A27D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E47AA45F-E457-92B1-CAA0-D3FA2C73FDC1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DBF502E-3FF5-2A91-F480-D3555FCDB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0855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72AC-C5E9-46A0-BBA3-1BB063A35D0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6330" y="1828800"/>
            <a:ext cx="5013420" cy="4351338"/>
          </a:xfrm>
        </p:spPr>
        <p:txBody>
          <a:bodyPr lIns="0" r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65A1B-629E-4F16-A92B-BD71F97704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91250" y="1828800"/>
            <a:ext cx="5429250" cy="4351338"/>
          </a:xfrm>
        </p:spPr>
        <p:txBody>
          <a:bodyPr lIns="0" r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B8FABE9-5D3C-43C8-A7AE-D532F097A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8E38CD-B0D4-6392-E0B6-B992DB27EF4F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7993D9F8-6A62-5AFF-26A6-005838C4EEF2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4A40E4AC-3FA9-9E3B-2091-6A87C9AFD2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7234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97ED8-26AB-4AF8-9475-5F49EAB1ED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6331" y="1851660"/>
            <a:ext cx="5108669" cy="392748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DB16A-5222-48A5-8000-B9FE4810D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31" y="2405380"/>
            <a:ext cx="5108670" cy="38395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7A515-D4BC-498E-A140-CFAD738E057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77000" y="1851660"/>
            <a:ext cx="5257800" cy="392748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FA56C-DF96-4E8E-9AEE-4A46B9AE0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7000" y="2405380"/>
            <a:ext cx="5257799" cy="38395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79B34A8-2319-4ACB-8DE4-1A70F687D6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329" y="365125"/>
            <a:ext cx="11128469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style, which can be two lines or it can be one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162702-580F-5076-BAB2-D3CAAD8A2C77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66CA06DB-8EC8-715C-BAB4-1489A03B92FA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AC9122-1691-2A43-40D3-7D394F4D3A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1539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4F2698-7973-F3B0-6495-03A76CF77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4498975"/>
            <a:ext cx="3476625" cy="1711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5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Söhne Halbfett" panose="020B0703030202060203" pitchFamily="34" charset="0"/>
              </a:rPr>
              <a:t>Shorter title fits here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438A53A-F6C2-6EDE-0FF7-7AE8126CE1D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12201525" cy="41306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E2B787E-378E-C221-655C-A0B4BBCA14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050" y="4540251"/>
            <a:ext cx="3383280" cy="1670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57200" indent="-457200">
              <a:lnSpc>
                <a:spcPct val="90000"/>
              </a:lnSpc>
              <a:spcBef>
                <a:spcPts val="2400"/>
              </a:spcBef>
              <a:buFont typeface="Wingdings 3" panose="05040102010807070707" pitchFamily="18" charset="2"/>
              <a:buChar char="y"/>
              <a:defRPr sz="2400"/>
            </a:lvl1pPr>
          </a:lstStyle>
          <a:p>
            <a:pPr lvl="0"/>
            <a:r>
              <a:rPr lang="en-US" dirty="0"/>
              <a:t>Enter text here</a:t>
            </a:r>
          </a:p>
          <a:p>
            <a:pPr lvl="0"/>
            <a:r>
              <a:rPr lang="en-US" dirty="0"/>
              <a:t>Second bullet here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432F8C7-55AF-FDDC-C311-6DE2329F4B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9595" y="4540251"/>
            <a:ext cx="3399156" cy="1670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57200" indent="-457200">
              <a:lnSpc>
                <a:spcPct val="90000"/>
              </a:lnSpc>
              <a:spcBef>
                <a:spcPts val="2400"/>
              </a:spcBef>
              <a:buFontTx/>
              <a:buBlip>
                <a:blip r:embed="rId2"/>
              </a:buBlip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457200" lvl="0" indent="-45720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dirty="0"/>
              <a:t>Enter text here</a:t>
            </a:r>
          </a:p>
          <a:p>
            <a:pPr marL="457200" lvl="0" indent="-45720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dirty="0"/>
              <a:t>Second bullet here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ED2DFB51-813B-406D-BFFA-A9D20FF69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250" y="7141604"/>
            <a:ext cx="5181592" cy="18045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57200" indent="-457200">
              <a:lnSpc>
                <a:spcPct val="90000"/>
              </a:lnSpc>
              <a:spcBef>
                <a:spcPts val="2400"/>
              </a:spcBef>
              <a:buFont typeface="Wingdings 3" panose="05040102010807070707" pitchFamily="18" charset="2"/>
              <a:buChar char="y"/>
              <a:defRPr/>
            </a:lvl1pPr>
          </a:lstStyle>
          <a:p>
            <a:pPr lvl="0"/>
            <a:r>
              <a:rPr lang="en-US" dirty="0"/>
              <a:t>Enter text here</a:t>
            </a:r>
          </a:p>
          <a:p>
            <a:pPr lvl="0"/>
            <a:r>
              <a:rPr lang="en-US" dirty="0"/>
              <a:t>Second bullet here</a:t>
            </a:r>
          </a:p>
          <a:p>
            <a:pPr lvl="0"/>
            <a:r>
              <a:rPr lang="en-US" dirty="0"/>
              <a:t>Third bullet goes here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936433B2-6449-4759-98E2-9BB201B45D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6350" y="7141604"/>
            <a:ext cx="5181592" cy="18045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57200" indent="-457200">
              <a:lnSpc>
                <a:spcPct val="90000"/>
              </a:lnSpc>
              <a:spcBef>
                <a:spcPts val="2400"/>
              </a:spcBef>
              <a:buFontTx/>
              <a:buBlip>
                <a:blip r:embed="rId2"/>
              </a:buBlip>
              <a:defRPr lang="en-US" sz="28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457200" lvl="0" indent="-45720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dirty="0"/>
              <a:t>Enter text here</a:t>
            </a:r>
          </a:p>
          <a:p>
            <a:pPr marL="457200" lvl="0" indent="-45720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dirty="0"/>
              <a:t>Second bullet here</a:t>
            </a:r>
          </a:p>
          <a:p>
            <a:pPr marL="457200" lvl="0" indent="-45720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dirty="0"/>
              <a:t>Third bullet goes here</a:t>
            </a:r>
          </a:p>
        </p:txBody>
      </p:sp>
      <p:sp>
        <p:nvSpPr>
          <p:cNvPr id="16" name="Text Placeholder 45">
            <a:extLst>
              <a:ext uri="{FF2B5EF4-FFF2-40B4-BE49-F238E27FC236}">
                <a16:creationId xmlns:a16="http://schemas.microsoft.com/office/drawing/2014/main" id="{9F227682-0F1B-4D7B-BF29-292BEEE202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17311" y="6446841"/>
            <a:ext cx="2791846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If you don’t have a title and want to span bullets, delete the three text boxes on the page and drag the text boxes on the pasteboard up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50345D-3950-A8C9-9696-259C21C88FA3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F0FF77D-C741-9043-60F9-D6EAA2CEE3AA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6AB62D1C-6F29-18F5-8CFB-BB2859D3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1699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44F566-D178-DEF1-8359-4E7CB0D11E2C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4535B901-0BD4-F8AF-1AAA-E4A6824AF531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70C1B72-EB9E-5210-9C5E-A6B72B46F7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1583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EEAB8F5B-3E36-0BF3-3FF6-FCEBD6616B46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1318494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F16D1CF-2C82-8238-8D29-FDF02D05B6C4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3395851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13D650C-D9A6-8117-3217-1948F907FCCD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473208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F744A371-E5CA-C656-B052-B5089288BB27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550565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601F51D-1B80-ED4B-759A-9CFD843EF531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9627922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1728DE7-0950-35C2-CB94-4AE088CCCB2D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11705280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3255960A-3668-082D-6849-A7ECB324F3E9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-758863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09B11F7B-49B2-E766-45F0-2BC90197805A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-2836220" y="1876191"/>
            <a:ext cx="3195761" cy="1218427"/>
          </a:xfrm>
          <a:custGeom>
            <a:avLst/>
            <a:gdLst>
              <a:gd name="connsiteX0" fmla="*/ 1218427 w 3195761"/>
              <a:gd name="connsiteY0" fmla="*/ 0 h 1218427"/>
              <a:gd name="connsiteX1" fmla="*/ 3195761 w 3195761"/>
              <a:gd name="connsiteY1" fmla="*/ 0 h 1218427"/>
              <a:gd name="connsiteX2" fmla="*/ 3195761 w 3195761"/>
              <a:gd name="connsiteY2" fmla="*/ 12849 h 1218427"/>
              <a:gd name="connsiteX3" fmla="*/ 1990183 w 3195761"/>
              <a:gd name="connsiteY3" fmla="*/ 1218427 h 1218427"/>
              <a:gd name="connsiteX4" fmla="*/ 0 w 3195761"/>
              <a:gd name="connsiteY4" fmla="*/ 1218427 h 121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5761" h="1218427">
                <a:moveTo>
                  <a:pt x="1218427" y="0"/>
                </a:moveTo>
                <a:lnTo>
                  <a:pt x="3195761" y="0"/>
                </a:lnTo>
                <a:lnTo>
                  <a:pt x="3195761" y="12849"/>
                </a:lnTo>
                <a:lnTo>
                  <a:pt x="1990183" y="1218427"/>
                </a:lnTo>
                <a:lnTo>
                  <a:pt x="0" y="12184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Phase name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65A1B-629E-4F16-A92B-BD71F97704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6330" y="3429000"/>
            <a:ext cx="11141170" cy="2751138"/>
          </a:xfrm>
        </p:spPr>
        <p:txBody>
          <a:bodyPr/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B8FABE9-5D3C-43C8-A7AE-D532F097A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269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F1B77F-7BA6-8BAE-C870-E823D3990124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F22523A4-4E86-CD9C-F3D8-34A36ABAA19D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442378F-9B5E-C786-1C57-7259EDE708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0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0155A34-3803-3AB6-6176-6DD0E7969AD6}"/>
              </a:ext>
            </a:extLst>
          </p:cNvPr>
          <p:cNvSpPr>
            <a:spLocks noGrp="1" noChangeAspect="1"/>
          </p:cNvSpPr>
          <p:nvPr>
            <p:ph type="body" sz="quarter" idx="56" hasCustomPrompt="1"/>
          </p:nvPr>
        </p:nvSpPr>
        <p:spPr>
          <a:xfrm>
            <a:off x="-4954899" y="1375043"/>
            <a:ext cx="278289" cy="2669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0C256-0852-A81D-48C3-FC68C8B54F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09892" y="0"/>
            <a:ext cx="9842500" cy="6858000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FF8B28A5-64AD-4502-A6C0-424164843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4598421" y="1280214"/>
            <a:ext cx="2659855" cy="3843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3733"/>
              </a:lnSpc>
              <a:spcBef>
                <a:spcPts val="0"/>
              </a:spcBef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##,### Sq. ft.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5EEB899-35AF-4F93-8CC0-660C5DB703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964423" y="1765787"/>
            <a:ext cx="4695825" cy="3535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8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Cool Factoid about the project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49F863E-7178-4F5A-A7C3-1A0A85D3D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4973865" y="2341682"/>
            <a:ext cx="3525837" cy="6758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Enter text here</a:t>
            </a:r>
          </a:p>
        </p:txBody>
      </p:sp>
      <p:sp>
        <p:nvSpPr>
          <p:cNvPr id="16" name="Text Placeholder 45">
            <a:extLst>
              <a:ext uri="{FF2B5EF4-FFF2-40B4-BE49-F238E27FC236}">
                <a16:creationId xmlns:a16="http://schemas.microsoft.com/office/drawing/2014/main" id="{FDF56C94-9976-4F7F-B1DF-D886B64838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" y="7188946"/>
            <a:ext cx="4828902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Design can either include a header and text/bullets, ONLY text ( remove headline and move text box up) on the pasteboard) or two quick stats (on the pasteboard)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19B38808-3877-4700-81B3-C71477FF4B69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09600" y="3037131"/>
            <a:ext cx="5049225" cy="3454747"/>
          </a:xfrm>
        </p:spPr>
        <p:txBody>
          <a:bodyPr/>
          <a:lstStyle>
            <a:lvl1pPr marL="457200" indent="-457200">
              <a:defRPr lang="en-US" sz="28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457200" lvl="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1"/>
              </a:buClr>
              <a:buSzPct val="60000"/>
              <a:buFont typeface="Wingdings 3" panose="05040102010807070707" pitchFamily="18" charset="2"/>
              <a:buChar char=""/>
            </a:pPr>
            <a:r>
              <a:rPr lang="en-US" dirty="0"/>
              <a:t>Click to edit text or use stats from left of pages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8C67C88-E7BB-4A20-A124-BD926A3BDC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1" y="1648084"/>
            <a:ext cx="5049225" cy="1058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000" dirty="0">
                <a:latin typeface="Söhne Halbfett" panose="020B0703030202060203" pitchFamily="34" charset="0"/>
              </a:rPr>
              <a:t>Two line title in sentence case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F6F84-B902-5D8C-4D53-10F2BBCA4DBD}"/>
              </a:ext>
            </a:extLst>
          </p:cNvPr>
          <p:cNvSpPr txBox="1"/>
          <p:nvPr userDrawn="1"/>
        </p:nvSpPr>
        <p:spPr>
          <a:xfrm>
            <a:off x="11020425" y="6654744"/>
            <a:ext cx="1122257" cy="76944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DEDE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Spectrum Square Office Building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EDEDE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B0FBCA1F-E7EE-88AD-012B-333D9C042C9A}"/>
              </a:ext>
            </a:extLst>
          </p:cNvPr>
          <p:cNvSpPr>
            <a:spLocks noGrp="1" noChangeAspect="1"/>
          </p:cNvSpPr>
          <p:nvPr>
            <p:ph type="body" sz="quarter" idx="57" hasCustomPrompt="1"/>
          </p:nvPr>
        </p:nvSpPr>
        <p:spPr>
          <a:xfrm>
            <a:off x="-4954899" y="3899168"/>
            <a:ext cx="278289" cy="2669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A11363-7A96-6CA9-6CB1-64C2943DBD2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-4598421" y="3804339"/>
            <a:ext cx="2659855" cy="3843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3733"/>
              </a:lnSpc>
              <a:spcBef>
                <a:spcPts val="0"/>
              </a:spcBef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##,### Sq. ft.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90C61E9-4448-737D-F24D-DA624802528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-4964423" y="4289912"/>
            <a:ext cx="4695825" cy="3535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8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Cool Factoid about the project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BB6B08F4-1505-939F-1833-C7BEACA60FC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-4973865" y="4865807"/>
            <a:ext cx="3525837" cy="6758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Enter text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623D07-551F-D848-2907-52A2D75E4073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19883C82-9166-A6FB-2127-89389BA09676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F25A160-4986-EF5A-E7B0-E286381422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0155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Righ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B57CF2-53CC-E00B-1C8B-08FBEF0CEE0A}"/>
              </a:ext>
            </a:extLst>
          </p:cNvPr>
          <p:cNvSpPr/>
          <p:nvPr userDrawn="1"/>
        </p:nvSpPr>
        <p:spPr>
          <a:xfrm>
            <a:off x="641346" y="4913464"/>
            <a:ext cx="10907140" cy="1350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1E213DB-CECA-3D80-0E2A-DD5EB2C080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498" y="2202022"/>
            <a:ext cx="4337050" cy="15126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pPr lvl="0"/>
            <a:r>
              <a:rPr lang="en-US" dirty="0"/>
              <a:t>Enter text here</a:t>
            </a:r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3132E935-13E4-7443-D65A-6ED8E49905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334" y="999459"/>
            <a:ext cx="4337049" cy="105984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line title in sentence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2C71C-CAE4-413E-808C-46E0814A1F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8377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CF9582D-808C-4F00-A143-3E7D70EA72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8377" y="5588773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D9BD8F-4757-464A-9368-F539F54F85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4554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2203202-6472-45D6-98AA-B8776BDFF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24554" y="5588773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8F99236-868A-40EF-9597-04B70A9C97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0731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94E27E1-8505-46B7-B975-A394B2DBD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30730" y="5588773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3AEAAA8-73F0-4A6F-87E3-789C91D688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36907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9EC65FD1-326A-4EF6-B42E-608D21C67A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36907" y="5588773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27C689B1-E861-4722-A24F-74F6FE83FE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6972615"/>
            <a:ext cx="5761270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Remove or add stats as needed and adjust spacing between. </a:t>
            </a:r>
          </a:p>
        </p:txBody>
      </p:sp>
      <p:sp>
        <p:nvSpPr>
          <p:cNvPr id="20" name="Text Placeholder 45">
            <a:extLst>
              <a:ext uri="{FF2B5EF4-FFF2-40B4-BE49-F238E27FC236}">
                <a16:creationId xmlns:a16="http://schemas.microsoft.com/office/drawing/2014/main" id="{541C2EC7-D6F3-4BBE-BE59-87465ECD841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2700" y="7086915"/>
            <a:ext cx="5761270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You MUST type category names and info or it won’t show up in presentation mode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6D5F594-FBF0-0E15-E268-67EC0D8448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411788" y="642938"/>
            <a:ext cx="6140450" cy="39052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5813D4-88E1-60CE-E946-FC0F5508451C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8B53DC5-454A-5AE3-F6B3-BB3B93B2D537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D8827F4-F7F7-A771-48C0-C7C5D29391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0712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Lef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B948B9-489B-7B85-B06F-AD5832AAB2CB}"/>
              </a:ext>
            </a:extLst>
          </p:cNvPr>
          <p:cNvSpPr/>
          <p:nvPr userDrawn="1"/>
        </p:nvSpPr>
        <p:spPr>
          <a:xfrm>
            <a:off x="641346" y="4913464"/>
            <a:ext cx="10907140" cy="1350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F271D68-7912-1B62-B39E-823A39CF8E1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41348" y="642938"/>
            <a:ext cx="6140450" cy="39052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1E213DB-CECA-3D80-0E2A-DD5EB2C080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13602" y="2202022"/>
            <a:ext cx="4337050" cy="15126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pPr lvl="0"/>
            <a:r>
              <a:rPr lang="en-US" dirty="0"/>
              <a:t>Enter text here</a:t>
            </a:r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3132E935-13E4-7443-D65A-6ED8E49905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1438" y="999459"/>
            <a:ext cx="4337049" cy="105984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line title in sentence case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2C71C-CAE4-413E-808C-46E0814A1F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8377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CF9582D-808C-4F00-A143-3E7D70EA72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8377" y="5579982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D9BD8F-4757-464A-9368-F539F54F85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4554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2203202-6472-45D6-98AA-B8776BDFF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24554" y="5579982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8F99236-868A-40EF-9597-04B70A9C97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0731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94E27E1-8505-46B7-B975-A394B2DBD9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30730" y="5579982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3AEAAA8-73F0-4A6F-87E3-789C91D688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36907" y="5043074"/>
            <a:ext cx="1836716" cy="49807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9EC65FD1-326A-4EF6-B42E-608D21C67A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36907" y="5579982"/>
            <a:ext cx="1836716" cy="5952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Short description can span two lines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27C689B1-E861-4722-A24F-74F6FE83FE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6972615"/>
            <a:ext cx="5761270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Remove or add stats as needed and adjust spacing between. </a:t>
            </a:r>
          </a:p>
        </p:txBody>
      </p:sp>
      <p:sp>
        <p:nvSpPr>
          <p:cNvPr id="20" name="Text Placeholder 45">
            <a:extLst>
              <a:ext uri="{FF2B5EF4-FFF2-40B4-BE49-F238E27FC236}">
                <a16:creationId xmlns:a16="http://schemas.microsoft.com/office/drawing/2014/main" id="{541C2EC7-D6F3-4BBE-BE59-87465ECD841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2700" y="7086915"/>
            <a:ext cx="5761270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You MUST type category names and info or it won’t show up in presentation mode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89E4DC-A6DF-7E1D-53A7-46B373758FCF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8D6EBFA8-90E0-A720-999D-1DF8A7E1733C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C1CAE19-D3D4-A4E9-B176-4DFFBF8C13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442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nore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D4FCFEF-5160-F433-734F-B6708BC70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797301" y="-1492243"/>
            <a:ext cx="8394699" cy="83946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0397F7C-4880-E7BC-990C-36FD18B25C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6470" y="1752084"/>
            <a:ext cx="8677061" cy="678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4900"/>
              </a:lnSpc>
              <a:spcBef>
                <a:spcPts val="0"/>
              </a:spcBef>
              <a:buNone/>
              <a:defRPr sz="5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</a:t>
            </a:r>
            <a:r>
              <a:rPr lang="en-US" noProof="0" dirty="0" err="1"/>
              <a:t>Lastname</a:t>
            </a:r>
            <a:endParaRPr lang="en-US" noProof="0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208A17E-7914-C60A-BEA3-9E31B3C81A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44570" y="1153705"/>
            <a:ext cx="5108669" cy="392748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b="1" cap="all" baseline="0" dirty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 noProof="0" dirty="0">
                <a:solidFill>
                  <a:schemeClr val="accent1"/>
                </a:solidFill>
              </a:rPr>
              <a:t>TITLE IN ALL CAPS</a:t>
            </a:r>
            <a:endParaRPr lang="en-US" noProof="0" dirty="0"/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87300B70-B813-4A32-EAA2-A15780AE16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570" y="2644169"/>
            <a:ext cx="4187767" cy="72634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20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Segoe UI" panose="020B0502040204020203" pitchFamily="34" charset="0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 noProof="0" dirty="0"/>
              <a:t>Date - Date</a:t>
            </a:r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717F23C5-9A33-FADE-3046-09E3E39DFC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570" y="4206342"/>
            <a:ext cx="4722271" cy="184116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20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Segoe UI" panose="020B0502040204020203" pitchFamily="34" charset="0"/>
              </a:defRPr>
            </a:lvl1pPr>
            <a:lvl4pPr marL="1371600" indent="0">
              <a:buNone/>
              <a:defRPr/>
            </a:lvl4pPr>
          </a:lstStyle>
          <a:p>
            <a:pPr marL="0" indent="0">
              <a:spcBef>
                <a:spcPts val="800"/>
              </a:spcBef>
              <a:buNone/>
            </a:pPr>
            <a:r>
              <a:rPr lang="en-US" sz="2000" dirty="0">
                <a:solidFill>
                  <a:schemeClr val="accent3"/>
                </a:solidFill>
              </a:rPr>
              <a:t>Quote here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D7747B-D84B-1A20-11A1-846767941363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EC2361FB-2D47-B9E2-ADCA-788B6538D95D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049F512-639F-7A4B-D2A2-72680611A9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5284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tout and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FAB4-4C13-D1E7-9CD0-9B3C97D11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-1" y="0"/>
            <a:ext cx="10853928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47B65-4A10-424F-B516-3E3B925DEA7A}"/>
              </a:ext>
            </a:extLst>
          </p:cNvPr>
          <p:cNvSpPr/>
          <p:nvPr userDrawn="1"/>
        </p:nvSpPr>
        <p:spPr>
          <a:xfrm>
            <a:off x="7936967" y="0"/>
            <a:ext cx="42672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Marcador de texto 33">
            <a:extLst>
              <a:ext uri="{FF2B5EF4-FFF2-40B4-BE49-F238E27FC236}">
                <a16:creationId xmlns:a16="http://schemas.microsoft.com/office/drawing/2014/main" id="{3D8252C0-2DFD-3FD6-1F4A-F7E950A949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96482" y="882382"/>
            <a:ext cx="2662238" cy="424732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47" name="Marcador de texto 33">
            <a:extLst>
              <a:ext uri="{FF2B5EF4-FFF2-40B4-BE49-F238E27FC236}">
                <a16:creationId xmlns:a16="http://schemas.microsoft.com/office/drawing/2014/main" id="{9E40E20B-24A0-009F-C74E-F2F0B9B7B9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91106" y="1449217"/>
            <a:ext cx="3170668" cy="42473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sp>
        <p:nvSpPr>
          <p:cNvPr id="59" name="Marcador de texto 33">
            <a:extLst>
              <a:ext uri="{FF2B5EF4-FFF2-40B4-BE49-F238E27FC236}">
                <a16:creationId xmlns:a16="http://schemas.microsoft.com/office/drawing/2014/main" id="{8D577A4D-EAA0-7116-E242-70F61348CC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96482" y="2274832"/>
            <a:ext cx="2662238" cy="424732"/>
          </a:xfrm>
        </p:spPr>
        <p:txBody>
          <a:bodyPr/>
          <a:lstStyle>
            <a:lvl1pPr marL="0" indent="0">
              <a:buNone/>
              <a:defRPr lang="es-MX" sz="2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60" name="Marcador de texto 33">
            <a:extLst>
              <a:ext uri="{FF2B5EF4-FFF2-40B4-BE49-F238E27FC236}">
                <a16:creationId xmlns:a16="http://schemas.microsoft.com/office/drawing/2014/main" id="{0A767EE6-C18A-B560-C975-53553DFEC0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91106" y="2841667"/>
            <a:ext cx="3170668" cy="42473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sp>
        <p:nvSpPr>
          <p:cNvPr id="65" name="Marcador de texto 33">
            <a:extLst>
              <a:ext uri="{FF2B5EF4-FFF2-40B4-BE49-F238E27FC236}">
                <a16:creationId xmlns:a16="http://schemas.microsoft.com/office/drawing/2014/main" id="{5D030E07-BE0C-6AC2-4EEB-B86EFF2CD0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96482" y="3667282"/>
            <a:ext cx="2662238" cy="424732"/>
          </a:xfrm>
        </p:spPr>
        <p:txBody>
          <a:bodyPr/>
          <a:lstStyle>
            <a:lvl1pPr marL="0" indent="0">
              <a:buNone/>
              <a:defRPr lang="es-MX" sz="2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66" name="Marcador de texto 33">
            <a:extLst>
              <a:ext uri="{FF2B5EF4-FFF2-40B4-BE49-F238E27FC236}">
                <a16:creationId xmlns:a16="http://schemas.microsoft.com/office/drawing/2014/main" id="{66BA96C2-63F1-2209-2149-9E96D9222D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91106" y="4234117"/>
            <a:ext cx="3170668" cy="42473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sp>
        <p:nvSpPr>
          <p:cNvPr id="71" name="Marcador de texto 33">
            <a:extLst>
              <a:ext uri="{FF2B5EF4-FFF2-40B4-BE49-F238E27FC236}">
                <a16:creationId xmlns:a16="http://schemas.microsoft.com/office/drawing/2014/main" id="{2919E1E0-BB49-A318-3D6F-E631851D0F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96482" y="5059732"/>
            <a:ext cx="2662238" cy="424732"/>
          </a:xfrm>
        </p:spPr>
        <p:txBody>
          <a:bodyPr/>
          <a:lstStyle>
            <a:lvl1pPr marL="0" indent="0">
              <a:buNone/>
              <a:defRPr lang="es-MX" sz="2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72" name="Marcador de texto 33">
            <a:extLst>
              <a:ext uri="{FF2B5EF4-FFF2-40B4-BE49-F238E27FC236}">
                <a16:creationId xmlns:a16="http://schemas.microsoft.com/office/drawing/2014/main" id="{D9C52D53-9071-A574-D1E9-357848BD44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91106" y="5626567"/>
            <a:ext cx="3170668" cy="42473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E182F-B8ED-DAC4-65A7-C516257164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226" y="553857"/>
            <a:ext cx="5565774" cy="264018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buNone/>
              <a:defRPr lang="en-US" sz="44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Slide title here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B62BBD-5CF4-76A7-981E-D1DB487268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2251" y="6276975"/>
            <a:ext cx="270073" cy="356006"/>
          </a:xfrm>
          <a:prstGeom prst="rect">
            <a:avLst/>
          </a:prstGeom>
        </p:spPr>
      </p:pic>
      <p:sp>
        <p:nvSpPr>
          <p:cNvPr id="2" name="SmartArt Placeholder 10">
            <a:extLst>
              <a:ext uri="{FF2B5EF4-FFF2-40B4-BE49-F238E27FC236}">
                <a16:creationId xmlns:a16="http://schemas.microsoft.com/office/drawing/2014/main" id="{2354D6BE-D425-8137-2688-5D5F7489CD26}"/>
              </a:ext>
            </a:extLst>
          </p:cNvPr>
          <p:cNvSpPr>
            <a:spLocks noGrp="1"/>
          </p:cNvSpPr>
          <p:nvPr>
            <p:ph type="dgm" sz="quarter" idx="67" hasCustomPrompt="1"/>
          </p:nvPr>
        </p:nvSpPr>
        <p:spPr>
          <a:xfrm>
            <a:off x="8489794" y="1012536"/>
            <a:ext cx="229479" cy="21945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SmartArt Placeholder 10">
            <a:extLst>
              <a:ext uri="{FF2B5EF4-FFF2-40B4-BE49-F238E27FC236}">
                <a16:creationId xmlns:a16="http://schemas.microsoft.com/office/drawing/2014/main" id="{62BD99A7-A07E-4F7B-D669-499950D0EDAB}"/>
              </a:ext>
            </a:extLst>
          </p:cNvPr>
          <p:cNvSpPr>
            <a:spLocks noGrp="1"/>
          </p:cNvSpPr>
          <p:nvPr>
            <p:ph type="dgm" sz="quarter" idx="68" hasCustomPrompt="1"/>
          </p:nvPr>
        </p:nvSpPr>
        <p:spPr>
          <a:xfrm>
            <a:off x="8489794" y="2396041"/>
            <a:ext cx="229479" cy="21945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SmartArt Placeholder 10">
            <a:extLst>
              <a:ext uri="{FF2B5EF4-FFF2-40B4-BE49-F238E27FC236}">
                <a16:creationId xmlns:a16="http://schemas.microsoft.com/office/drawing/2014/main" id="{95C886C9-DAF9-D44A-775C-DAB38077F64F}"/>
              </a:ext>
            </a:extLst>
          </p:cNvPr>
          <p:cNvSpPr>
            <a:spLocks noGrp="1"/>
          </p:cNvSpPr>
          <p:nvPr>
            <p:ph type="dgm" sz="quarter" idx="69" hasCustomPrompt="1"/>
          </p:nvPr>
        </p:nvSpPr>
        <p:spPr>
          <a:xfrm>
            <a:off x="8489794" y="3791609"/>
            <a:ext cx="229479" cy="21945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5" name="SmartArt Placeholder 10">
            <a:extLst>
              <a:ext uri="{FF2B5EF4-FFF2-40B4-BE49-F238E27FC236}">
                <a16:creationId xmlns:a16="http://schemas.microsoft.com/office/drawing/2014/main" id="{3DBAF51E-714E-ACB9-B6DE-30BAB36CF4C9}"/>
              </a:ext>
            </a:extLst>
          </p:cNvPr>
          <p:cNvSpPr>
            <a:spLocks noGrp="1"/>
          </p:cNvSpPr>
          <p:nvPr>
            <p:ph type="dgm" sz="quarter" idx="70" hasCustomPrompt="1"/>
          </p:nvPr>
        </p:nvSpPr>
        <p:spPr>
          <a:xfrm>
            <a:off x="8489794" y="5184572"/>
            <a:ext cx="229479" cy="21945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72092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AB7218-4A0A-73F9-E1DD-FB3FCF8B9D17}"/>
              </a:ext>
            </a:extLst>
          </p:cNvPr>
          <p:cNvSpPr/>
          <p:nvPr userDrawn="1"/>
        </p:nvSpPr>
        <p:spPr>
          <a:xfrm>
            <a:off x="0" y="-6"/>
            <a:ext cx="2495520" cy="68580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084C10-9A7E-47C0-A2E4-E2891FFB15B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368499" y="523875"/>
            <a:ext cx="1784804" cy="9017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627C752-C998-40FA-BBD4-EA94BF22B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5174" y="365125"/>
            <a:ext cx="86326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Team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CEF11-4917-42C6-AAB9-AF1ADF67BC50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570110" y="2252040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C9233808-EBB8-4A8D-A44C-87DD49D60866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2984697" y="2247900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E3E527C1-CBEE-404F-9B08-FB3BA3B9647D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4794448" y="2247900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D3C39D5C-8745-47E8-BF87-76BEED270BE5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6523236" y="2247900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11A2E333-DCE6-4416-B6FB-1427AB681ECB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8299648" y="2247900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A0DE35E1-CDF8-4884-9C51-45D8569E0650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10090348" y="2247900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Picture Placeholder 2">
            <a:extLst>
              <a:ext uri="{FF2B5EF4-FFF2-40B4-BE49-F238E27FC236}">
                <a16:creationId xmlns:a16="http://schemas.microsoft.com/office/drawing/2014/main" id="{143FCA90-B599-454D-AEA9-72253E69E357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10090348" y="4619625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70D772D3-D6BA-48BC-A102-C18166740AE9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8313936" y="4619625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5811477-D5BF-4CD5-ABC0-FF015A0CC18C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6532762" y="4619625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7B9283DA-32EA-4F32-8EE6-5FE27E9B4F8E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4756349" y="4619625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B691578F-0EA4-4061-BA41-716FC40043E6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2975174" y="4619625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344794D0-DFD9-4A3D-B04D-EDA37E787D73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569635" y="4623765"/>
            <a:ext cx="1371601" cy="1371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8548E-2995-402C-961B-6AB9C90B15A5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69915" y="3623641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8B21ECC-E9AA-444C-90E4-DD892679396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69915" y="3962195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148EE3A7-FDC5-4ED0-B047-5EFE0E5CEE55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3246439" y="1759747"/>
            <a:ext cx="1856579" cy="217979"/>
          </a:xfrm>
        </p:spPr>
        <p:txBody>
          <a:bodyPr tIns="0" bIns="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Group</a:t>
            </a:r>
          </a:p>
        </p:txBody>
      </p:sp>
      <p:sp>
        <p:nvSpPr>
          <p:cNvPr id="74" name="Text Placeholder 4">
            <a:extLst>
              <a:ext uri="{FF2B5EF4-FFF2-40B4-BE49-F238E27FC236}">
                <a16:creationId xmlns:a16="http://schemas.microsoft.com/office/drawing/2014/main" id="{8796E9DB-C7DA-44C5-A075-310CBC8FC152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46140" y="1763887"/>
            <a:ext cx="959800" cy="217979"/>
          </a:xfrm>
        </p:spPr>
        <p:txBody>
          <a:bodyPr tIns="0" bIns="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Group</a:t>
            </a: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CA216E67-DC70-464E-B7E5-D6C7323894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3550" y="3619501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D9004250-A06C-48AC-87CC-E404526C85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83550" y="3958055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03F8694C-FD7A-43E1-AAEE-51BE134130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97110" y="3619501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A6179DAC-C22A-46F8-8252-F419E3384F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7110" y="3958055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163626D7-9E4B-475E-AF15-755EE11079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6179" y="3619501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11B1AC7A-EA3F-4C8D-910D-E0922F32384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6179" y="3958055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2" name="Text Placeholder 4">
            <a:extLst>
              <a:ext uri="{FF2B5EF4-FFF2-40B4-BE49-F238E27FC236}">
                <a16:creationId xmlns:a16="http://schemas.microsoft.com/office/drawing/2014/main" id="{85CCC022-C647-4535-96F8-056A410706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01226" y="3619501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21282F31-7C1C-4BC0-A913-F343965332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01226" y="3958055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4" name="Text Placeholder 4">
            <a:extLst>
              <a:ext uri="{FF2B5EF4-FFF2-40B4-BE49-F238E27FC236}">
                <a16:creationId xmlns:a16="http://schemas.microsoft.com/office/drawing/2014/main" id="{A63F816F-6049-45B3-BA7B-6DDF74D21E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4519" y="3619501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05" name="Text Placeholder 4">
            <a:extLst>
              <a:ext uri="{FF2B5EF4-FFF2-40B4-BE49-F238E27FC236}">
                <a16:creationId xmlns:a16="http://schemas.microsoft.com/office/drawing/2014/main" id="{298D1AF9-2970-455A-A337-4BC1CBF1F7F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84519" y="3958055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5A6FE252-AD7C-4D51-9760-C179878368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4519" y="5991225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07" name="Text Placeholder 4">
            <a:extLst>
              <a:ext uri="{FF2B5EF4-FFF2-40B4-BE49-F238E27FC236}">
                <a16:creationId xmlns:a16="http://schemas.microsoft.com/office/drawing/2014/main" id="{F1E6981B-9E0A-47FC-9104-4C57E2631FD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4519" y="6329779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AB019807-C2E8-43E3-9E24-81EA10EEC94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08106" y="5991225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09" name="Text Placeholder 4">
            <a:extLst>
              <a:ext uri="{FF2B5EF4-FFF2-40B4-BE49-F238E27FC236}">
                <a16:creationId xmlns:a16="http://schemas.microsoft.com/office/drawing/2014/main" id="{A87E38A5-05D8-48C0-8145-E998795ECF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08106" y="6329779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0" name="Text Placeholder 4">
            <a:extLst>
              <a:ext uri="{FF2B5EF4-FFF2-40B4-BE49-F238E27FC236}">
                <a16:creationId xmlns:a16="http://schemas.microsoft.com/office/drawing/2014/main" id="{56BF7BE3-E7A7-4959-A16D-4013CD04ED8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23236" y="5991225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11" name="Text Placeholder 4">
            <a:extLst>
              <a:ext uri="{FF2B5EF4-FFF2-40B4-BE49-F238E27FC236}">
                <a16:creationId xmlns:a16="http://schemas.microsoft.com/office/drawing/2014/main" id="{8E7D4891-0D2B-4620-8C9B-559C96D58B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3236" y="6329779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2" name="Text Placeholder 4">
            <a:extLst>
              <a:ext uri="{FF2B5EF4-FFF2-40B4-BE49-F238E27FC236}">
                <a16:creationId xmlns:a16="http://schemas.microsoft.com/office/drawing/2014/main" id="{9CF47409-0B31-449B-B216-F3CD67A0D7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49101" y="5991225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A0A155A5-7C0B-45C9-8F4B-8AFB91625B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49101" y="6329779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7" name="Text Placeholder 4">
            <a:extLst>
              <a:ext uri="{FF2B5EF4-FFF2-40B4-BE49-F238E27FC236}">
                <a16:creationId xmlns:a16="http://schemas.microsoft.com/office/drawing/2014/main" id="{BF933586-62F6-49E7-9BEF-13C7BA9BFF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75567" y="5991225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18" name="Text Placeholder 4">
            <a:extLst>
              <a:ext uri="{FF2B5EF4-FFF2-40B4-BE49-F238E27FC236}">
                <a16:creationId xmlns:a16="http://schemas.microsoft.com/office/drawing/2014/main" id="{190B8012-7E01-418D-AA35-721D15B3A96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75567" y="6329779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9" name="Text Placeholder 4">
            <a:extLst>
              <a:ext uri="{FF2B5EF4-FFF2-40B4-BE49-F238E27FC236}">
                <a16:creationId xmlns:a16="http://schemas.microsoft.com/office/drawing/2014/main" id="{0706695A-846D-4C82-AE56-D488C8D96D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9635" y="5995365"/>
            <a:ext cx="1388374" cy="338554"/>
          </a:xfrm>
        </p:spPr>
        <p:txBody>
          <a:bodyPr tIns="91440"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First Name</a:t>
            </a:r>
          </a:p>
        </p:txBody>
      </p:sp>
      <p:sp>
        <p:nvSpPr>
          <p:cNvPr id="120" name="Text Placeholder 4">
            <a:extLst>
              <a:ext uri="{FF2B5EF4-FFF2-40B4-BE49-F238E27FC236}">
                <a16:creationId xmlns:a16="http://schemas.microsoft.com/office/drawing/2014/main" id="{58F5C757-72FE-4E42-A7E1-DC1CD9571C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9635" y="6333919"/>
            <a:ext cx="1388374" cy="247650"/>
          </a:xfrm>
        </p:spPr>
        <p:txBody>
          <a:bodyPr tIns="27432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SmartArt Placeholder 10">
            <a:extLst>
              <a:ext uri="{FF2B5EF4-FFF2-40B4-BE49-F238E27FC236}">
                <a16:creationId xmlns:a16="http://schemas.microsoft.com/office/drawing/2014/main" id="{536C5509-64B6-CFAC-48E6-4DDE39ABF128}"/>
              </a:ext>
            </a:extLst>
          </p:cNvPr>
          <p:cNvSpPr>
            <a:spLocks noGrp="1"/>
          </p:cNvSpPr>
          <p:nvPr>
            <p:ph type="dgm" sz="quarter" idx="67" hasCustomPrompt="1"/>
          </p:nvPr>
        </p:nvSpPr>
        <p:spPr>
          <a:xfrm>
            <a:off x="3020051" y="1799959"/>
            <a:ext cx="162027" cy="1549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martArt Placeholder 10">
            <a:extLst>
              <a:ext uri="{FF2B5EF4-FFF2-40B4-BE49-F238E27FC236}">
                <a16:creationId xmlns:a16="http://schemas.microsoft.com/office/drawing/2014/main" id="{8215194D-4311-4218-8B56-EAAEF007E6FD}"/>
              </a:ext>
            </a:extLst>
          </p:cNvPr>
          <p:cNvSpPr>
            <a:spLocks noGrp="1"/>
          </p:cNvSpPr>
          <p:nvPr>
            <p:ph type="dgm" sz="quarter" idx="68" hasCustomPrompt="1"/>
          </p:nvPr>
        </p:nvSpPr>
        <p:spPr>
          <a:xfrm>
            <a:off x="587249" y="1816629"/>
            <a:ext cx="162027" cy="1549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68679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FF39464-58C2-1BDB-39D6-E653BC35F6C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78803" y="5100234"/>
            <a:ext cx="11028363" cy="608013"/>
          </a:xfrm>
          <a:custGeom>
            <a:avLst/>
            <a:gdLst>
              <a:gd name="connsiteX0" fmla="*/ 0 w 11785599"/>
              <a:gd name="connsiteY0" fmla="*/ 0 h 649288"/>
              <a:gd name="connsiteX1" fmla="*/ 11460955 w 11785599"/>
              <a:gd name="connsiteY1" fmla="*/ 0 h 649288"/>
              <a:gd name="connsiteX2" fmla="*/ 11785599 w 11785599"/>
              <a:gd name="connsiteY2" fmla="*/ 324644 h 649288"/>
              <a:gd name="connsiteX3" fmla="*/ 11460955 w 11785599"/>
              <a:gd name="connsiteY3" fmla="*/ 649288 h 649288"/>
              <a:gd name="connsiteX4" fmla="*/ 0 w 11785599"/>
              <a:gd name="connsiteY4" fmla="*/ 649288 h 649288"/>
              <a:gd name="connsiteX5" fmla="*/ 0 w 11785599"/>
              <a:gd name="connsiteY5" fmla="*/ 623238 h 649288"/>
              <a:gd name="connsiteX6" fmla="*/ 298593 w 11785599"/>
              <a:gd name="connsiteY6" fmla="*/ 324644 h 649288"/>
              <a:gd name="connsiteX7" fmla="*/ 0 w 11785599"/>
              <a:gd name="connsiteY7" fmla="*/ 26050 h 649288"/>
              <a:gd name="connsiteX0" fmla="*/ 0 w 11785599"/>
              <a:gd name="connsiteY0" fmla="*/ 0 h 649288"/>
              <a:gd name="connsiteX1" fmla="*/ 11460955 w 11785599"/>
              <a:gd name="connsiteY1" fmla="*/ 0 h 649288"/>
              <a:gd name="connsiteX2" fmla="*/ 11785599 w 11785599"/>
              <a:gd name="connsiteY2" fmla="*/ 324644 h 649288"/>
              <a:gd name="connsiteX3" fmla="*/ 11460955 w 11785599"/>
              <a:gd name="connsiteY3" fmla="*/ 649288 h 649288"/>
              <a:gd name="connsiteX4" fmla="*/ 0 w 11785599"/>
              <a:gd name="connsiteY4" fmla="*/ 649288 h 649288"/>
              <a:gd name="connsiteX5" fmla="*/ 0 w 11785599"/>
              <a:gd name="connsiteY5" fmla="*/ 623238 h 649288"/>
              <a:gd name="connsiteX6" fmla="*/ 204671 w 11785599"/>
              <a:gd name="connsiteY6" fmla="*/ 324644 h 649288"/>
              <a:gd name="connsiteX7" fmla="*/ 0 w 11785599"/>
              <a:gd name="connsiteY7" fmla="*/ 26050 h 649288"/>
              <a:gd name="connsiteX8" fmla="*/ 0 w 11785599"/>
              <a:gd name="connsiteY8" fmla="*/ 0 h 649288"/>
              <a:gd name="connsiteX0" fmla="*/ 0 w 11651424"/>
              <a:gd name="connsiteY0" fmla="*/ 0 h 649288"/>
              <a:gd name="connsiteX1" fmla="*/ 11460955 w 11651424"/>
              <a:gd name="connsiteY1" fmla="*/ 0 h 649288"/>
              <a:gd name="connsiteX2" fmla="*/ 11651424 w 11651424"/>
              <a:gd name="connsiteY2" fmla="*/ 305594 h 649288"/>
              <a:gd name="connsiteX3" fmla="*/ 11460955 w 11651424"/>
              <a:gd name="connsiteY3" fmla="*/ 649288 h 649288"/>
              <a:gd name="connsiteX4" fmla="*/ 0 w 11651424"/>
              <a:gd name="connsiteY4" fmla="*/ 649288 h 649288"/>
              <a:gd name="connsiteX5" fmla="*/ 0 w 11651424"/>
              <a:gd name="connsiteY5" fmla="*/ 623238 h 649288"/>
              <a:gd name="connsiteX6" fmla="*/ 204671 w 11651424"/>
              <a:gd name="connsiteY6" fmla="*/ 324644 h 649288"/>
              <a:gd name="connsiteX7" fmla="*/ 0 w 11651424"/>
              <a:gd name="connsiteY7" fmla="*/ 26050 h 649288"/>
              <a:gd name="connsiteX8" fmla="*/ 0 w 11651424"/>
              <a:gd name="connsiteY8" fmla="*/ 0 h 64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424" h="649288">
                <a:moveTo>
                  <a:pt x="0" y="0"/>
                </a:moveTo>
                <a:lnTo>
                  <a:pt x="11460955" y="0"/>
                </a:lnTo>
                <a:lnTo>
                  <a:pt x="11651424" y="305594"/>
                </a:lnTo>
                <a:lnTo>
                  <a:pt x="11460955" y="649288"/>
                </a:lnTo>
                <a:lnTo>
                  <a:pt x="0" y="649288"/>
                </a:lnTo>
                <a:lnTo>
                  <a:pt x="0" y="623238"/>
                </a:lnTo>
                <a:lnTo>
                  <a:pt x="204671" y="324644"/>
                </a:lnTo>
                <a:lnTo>
                  <a:pt x="0" y="26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334F269E-D81E-32E6-81B4-4062F0FB85E3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513513" y="479425"/>
            <a:ext cx="4924425" cy="3844925"/>
          </a:xfrm>
        </p:spPr>
        <p:txBody>
          <a:bodyPr/>
          <a:lstStyle>
            <a:lvl1pPr>
              <a:defRPr/>
            </a:lvl1pPr>
          </a:lstStyle>
          <a:p>
            <a:r>
              <a:rPr lang="es-MX" dirty="0"/>
              <a:t>Pie Chart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127BF88-B047-4AC9-D4AD-9CB91C94D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413" y="479426"/>
            <a:ext cx="5363587" cy="723900"/>
          </a:xfrm>
        </p:spPr>
        <p:txBody>
          <a:bodyPr/>
          <a:lstStyle>
            <a:lvl1pPr>
              <a:defRPr/>
            </a:lvl1pPr>
          </a:lstStyle>
          <a:p>
            <a:pPr>
              <a:lnSpc>
                <a:spcPct val="100000"/>
              </a:lnSpc>
            </a:pPr>
            <a:r>
              <a:rPr lang="en-US" sz="3600" noProof="0" dirty="0"/>
              <a:t>Title of infographic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F00297A-FC0D-AB61-8EA2-28774E33DE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2413" y="1282701"/>
            <a:ext cx="5341938" cy="325644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sz="2000" noProof="0" dirty="0"/>
              <a:t>Click to edit Master text styles</a:t>
            </a:r>
          </a:p>
        </p:txBody>
      </p:sp>
      <p:sp>
        <p:nvSpPr>
          <p:cNvPr id="55" name="Marcador de texto 52">
            <a:extLst>
              <a:ext uri="{FF2B5EF4-FFF2-40B4-BE49-F238E27FC236}">
                <a16:creationId xmlns:a16="http://schemas.microsoft.com/office/drawing/2014/main" id="{D8448203-BB38-953C-8F8F-0654AD71DD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94724" y="6221036"/>
            <a:ext cx="1818450" cy="468154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Insert description</a:t>
            </a:r>
          </a:p>
        </p:txBody>
      </p:sp>
      <p:sp>
        <p:nvSpPr>
          <p:cNvPr id="56" name="Marcador de texto 52">
            <a:extLst>
              <a:ext uri="{FF2B5EF4-FFF2-40B4-BE49-F238E27FC236}">
                <a16:creationId xmlns:a16="http://schemas.microsoft.com/office/drawing/2014/main" id="{36D5C228-B1EA-AE28-D707-B19E9247C5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49712" y="6221104"/>
            <a:ext cx="1818450" cy="468154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Insert description</a:t>
            </a:r>
          </a:p>
        </p:txBody>
      </p:sp>
      <p:sp>
        <p:nvSpPr>
          <p:cNvPr id="57" name="Marcador de texto 52">
            <a:extLst>
              <a:ext uri="{FF2B5EF4-FFF2-40B4-BE49-F238E27FC236}">
                <a16:creationId xmlns:a16="http://schemas.microsoft.com/office/drawing/2014/main" id="{9CE5DDDC-6121-EFA9-4041-AA68772268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92825" y="6221036"/>
            <a:ext cx="1818450" cy="468154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Insert description</a:t>
            </a:r>
          </a:p>
        </p:txBody>
      </p:sp>
      <p:sp>
        <p:nvSpPr>
          <p:cNvPr id="58" name="Marcador de texto 52">
            <a:extLst>
              <a:ext uri="{FF2B5EF4-FFF2-40B4-BE49-F238E27FC236}">
                <a16:creationId xmlns:a16="http://schemas.microsoft.com/office/drawing/2014/main" id="{AC528F28-81B5-8E5C-CAFA-D5A227514D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64513" y="6221036"/>
            <a:ext cx="1818450" cy="468154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Insert description</a:t>
            </a:r>
          </a:p>
        </p:txBody>
      </p:sp>
      <p:sp>
        <p:nvSpPr>
          <p:cNvPr id="59" name="Marcador de texto 52">
            <a:extLst>
              <a:ext uri="{FF2B5EF4-FFF2-40B4-BE49-F238E27FC236}">
                <a16:creationId xmlns:a16="http://schemas.microsoft.com/office/drawing/2014/main" id="{8581A71B-6B51-817B-0BB4-42BA0506B28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07625" y="6221036"/>
            <a:ext cx="1818450" cy="468154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Insert description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7206D-0B19-3FC2-C434-9C831EC1EB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775625" y="4834942"/>
            <a:ext cx="1145229" cy="1146873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 %</a:t>
            </a:r>
          </a:p>
        </p:txBody>
      </p:sp>
      <p:sp>
        <p:nvSpPr>
          <p:cNvPr id="2" name="Text Placeholder 31">
            <a:extLst>
              <a:ext uri="{FF2B5EF4-FFF2-40B4-BE49-F238E27FC236}">
                <a16:creationId xmlns:a16="http://schemas.microsoft.com/office/drawing/2014/main" id="{92288B2D-0982-FAB7-85F8-FE1E1ACF56A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 rot="16200000">
            <a:off x="10466626" y="5527587"/>
            <a:ext cx="454228" cy="454228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6C03BDC-02AB-36F8-0F05-1FC4E678D8C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715845" y="4834942"/>
            <a:ext cx="1145229" cy="1146873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 %</a:t>
            </a:r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4332AB0E-D9A2-6B90-A103-60A46EB33D84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6200000">
            <a:off x="8406842" y="5527587"/>
            <a:ext cx="454228" cy="454228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D3285BD-43E6-83F8-077D-CDF1A9304A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656064" y="4834942"/>
            <a:ext cx="1145229" cy="1146873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 %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9B2D0CA4-46A9-3CDE-7147-09FEEE116CC4}"/>
              </a:ext>
            </a:extLst>
          </p:cNvPr>
          <p:cNvSpPr>
            <a:spLocks noGrp="1" noChangeAspect="1"/>
          </p:cNvSpPr>
          <p:nvPr>
            <p:ph type="body" sz="quarter" idx="54" hasCustomPrompt="1"/>
          </p:nvPr>
        </p:nvSpPr>
        <p:spPr>
          <a:xfrm rot="16200000">
            <a:off x="6349442" y="5527587"/>
            <a:ext cx="454228" cy="454228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3872625-180B-2BAF-4B53-4B54BFBC590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596283" y="4834942"/>
            <a:ext cx="1145229" cy="1146873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 %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F17CA418-EAF2-C658-3981-941EDFD9F090}"/>
              </a:ext>
            </a:extLst>
          </p:cNvPr>
          <p:cNvSpPr>
            <a:spLocks noGrp="1" noChangeAspect="1"/>
          </p:cNvSpPr>
          <p:nvPr>
            <p:ph type="body" sz="quarter" idx="56" hasCustomPrompt="1"/>
          </p:nvPr>
        </p:nvSpPr>
        <p:spPr>
          <a:xfrm rot="16200000">
            <a:off x="4284903" y="5527587"/>
            <a:ext cx="454228" cy="454228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0B812EC-265A-3A4C-2B5F-12E2F5C20A1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36502" y="4834942"/>
            <a:ext cx="1145229" cy="1146873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 %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F912BAF2-143E-2BC5-2B69-3FAF18358362}"/>
              </a:ext>
            </a:extLst>
          </p:cNvPr>
          <p:cNvSpPr>
            <a:spLocks noGrp="1" noChangeAspect="1"/>
          </p:cNvSpPr>
          <p:nvPr>
            <p:ph type="body" sz="quarter" idx="58" hasCustomPrompt="1"/>
          </p:nvPr>
        </p:nvSpPr>
        <p:spPr>
          <a:xfrm rot="16200000">
            <a:off x="2227503" y="5527587"/>
            <a:ext cx="454228" cy="454228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1949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with Callout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4">
            <a:extLst>
              <a:ext uri="{FF2B5EF4-FFF2-40B4-BE49-F238E27FC236}">
                <a16:creationId xmlns:a16="http://schemas.microsoft.com/office/drawing/2014/main" id="{2FE0C11C-5E4A-4AD9-A7DE-AD4E7BFAB2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64594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48" name="Text Placeholder 27">
            <a:extLst>
              <a:ext uri="{FF2B5EF4-FFF2-40B4-BE49-F238E27FC236}">
                <a16:creationId xmlns:a16="http://schemas.microsoft.com/office/drawing/2014/main" id="{0FB11B70-419F-CFBE-F2DE-07CD63C627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5199" y="1929775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49" name="Text Placeholder 27">
            <a:extLst>
              <a:ext uri="{FF2B5EF4-FFF2-40B4-BE49-F238E27FC236}">
                <a16:creationId xmlns:a16="http://schemas.microsoft.com/office/drawing/2014/main" id="{C175BE54-366B-7D88-FC99-E19CED78CF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15199" y="2239787"/>
            <a:ext cx="2004552" cy="2011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37DB2074-9A06-4D97-9A02-42A7D6422A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99500" y="6972615"/>
            <a:ext cx="4828902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Remove or add categories as needed and adjust spacing between categories. 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44CFA1BB-F7AF-465F-A857-7A0412CEDB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99500" y="7897995"/>
            <a:ext cx="5761270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You MUST type category names and info or it won’t show up in presentation mode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241B17F-43C6-41AF-B62B-FDBEAE68517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2027254" y="160168"/>
            <a:ext cx="108072" cy="4758960"/>
          </a:xfrm>
          <a:prstGeom prst="bentConnector3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F128BC39-9425-4AFE-9F99-B5D057FAD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199" y="365125"/>
            <a:ext cx="4458683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Name of project is title slide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C2A3E6E4-31C4-4AD3-A8A5-E4CD5658B5E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15715" y="1929775"/>
            <a:ext cx="1379957" cy="3100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81E6D729-FA1B-45B0-9119-FBE63564E9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15716" y="2239787"/>
            <a:ext cx="1379956" cy="2458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1D2DCD26-B838-47AC-BC62-6A2A8F579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5199" y="2804846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category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CDA2F960-8645-4AD6-8A8B-BE3822B2F79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15199" y="3114858"/>
            <a:ext cx="2004552" cy="2011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907AED70-0F0E-4513-9E7C-93D2BDFCB6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15715" y="2804846"/>
            <a:ext cx="1379957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D45B3B9-B8F6-47BD-8EF4-F805B31DC1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15716" y="3114858"/>
            <a:ext cx="1379956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26BE47B-E096-40AC-AC79-9628ED07375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15199" y="3699581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highlights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1C41AEE-0177-4264-9A5C-8102CBCDA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199" y="4023519"/>
            <a:ext cx="4488180" cy="2469355"/>
          </a:xfrm>
        </p:spPr>
        <p:txBody>
          <a:bodyPr/>
          <a:lstStyle>
            <a:lvl1pPr marL="231775" indent="-231775">
              <a:defRPr sz="1600">
                <a:solidFill>
                  <a:schemeClr val="accent3"/>
                </a:solidFill>
              </a:defRPr>
            </a:lvl1pPr>
            <a:lvl2pPr marL="461963" indent="-225425">
              <a:defRPr sz="1600">
                <a:solidFill>
                  <a:schemeClr val="accent3"/>
                </a:solidFill>
              </a:defRPr>
            </a:lvl2pPr>
            <a:lvl3pPr marL="688975" indent="-225425">
              <a:defRPr sz="1400">
                <a:solidFill>
                  <a:schemeClr val="accent3"/>
                </a:solidFill>
              </a:defRPr>
            </a:lvl3pPr>
            <a:lvl4pPr marL="914400" indent="-225425">
              <a:defRPr sz="1200">
                <a:solidFill>
                  <a:schemeClr val="accent3"/>
                </a:solidFill>
              </a:defRPr>
            </a:lvl4pPr>
            <a:lvl5pPr marL="1139825" indent="-231775"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19A899-2F63-5DD3-0870-3E54FCE8FF27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7089684A-C150-86C6-2D80-C8646D834A7C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DC3EB15-9A1F-D5BC-FC26-44FDA08ADF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780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with Longer Nar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77BEAA76-8C75-E024-315C-087DA806EF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0712" y="581025"/>
            <a:ext cx="3532188" cy="2936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Subhead 1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1EE0ADAB-9B27-7D0A-03C3-76D115F277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712" y="1917700"/>
            <a:ext cx="7077946" cy="42814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891E8005-BC78-FA32-1016-8C0FCA8475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1500" y="1929775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0BA36E81-D19E-A715-751B-07AAEA6C87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91500" y="2239787"/>
            <a:ext cx="2004552" cy="2011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Client name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7DFAAA36-6A2C-4848-068C-9F61C95342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423423" y="1929775"/>
            <a:ext cx="1379957" cy="3100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B8641BB7-52BC-BB48-D707-167F3C6338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423424" y="2239787"/>
            <a:ext cx="1379956" cy="2458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Ohio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2B1BF343-E4BF-2CC4-1E24-F47133C907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1499" y="2750940"/>
            <a:ext cx="3611881" cy="349936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3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Enter project description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60DE2-872C-4AEF-5645-D391C1A43C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0713" y="1020445"/>
            <a:ext cx="11182667" cy="7112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21641F-23CF-3B76-FA7A-60438EBF5DB6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175113D-D04B-3B8C-AE97-6AFDEC875623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AA711138-88B6-216F-65F6-2C13206393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846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ofile Longe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4">
            <a:extLst>
              <a:ext uri="{FF2B5EF4-FFF2-40B4-BE49-F238E27FC236}">
                <a16:creationId xmlns:a16="http://schemas.microsoft.com/office/drawing/2014/main" id="{2FE0C11C-5E4A-4AD9-A7DE-AD4E7BFAB2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712" y="1917700"/>
            <a:ext cx="7077946" cy="42814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48" name="Text Placeholder 27">
            <a:extLst>
              <a:ext uri="{FF2B5EF4-FFF2-40B4-BE49-F238E27FC236}">
                <a16:creationId xmlns:a16="http://schemas.microsoft.com/office/drawing/2014/main" id="{0FB11B70-419F-CFBE-F2DE-07CD63C627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1500" y="1929775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category</a:t>
            </a:r>
          </a:p>
        </p:txBody>
      </p:sp>
      <p:sp>
        <p:nvSpPr>
          <p:cNvPr id="49" name="Text Placeholder 27">
            <a:extLst>
              <a:ext uri="{FF2B5EF4-FFF2-40B4-BE49-F238E27FC236}">
                <a16:creationId xmlns:a16="http://schemas.microsoft.com/office/drawing/2014/main" id="{C175BE54-366B-7D88-FC99-E19CED78CF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91500" y="2239787"/>
            <a:ext cx="2004552" cy="2011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37DB2074-9A06-4D97-9A02-42A7D6422A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99500" y="6972615"/>
            <a:ext cx="4828902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Remove or add categories as needed and adjust spacing between categories. 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44CFA1BB-F7AF-465F-A857-7A0412CEDB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99500" y="7897995"/>
            <a:ext cx="5761270" cy="1597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You MUST type category names and info or it won’t show up in presentation mode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241B17F-43C6-41AF-B62B-FDBEAE68517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2027254" y="160168"/>
            <a:ext cx="108072" cy="4758960"/>
          </a:xfrm>
          <a:prstGeom prst="bentConnector3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F128BC39-9425-4AFE-9F99-B5D057FAD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2" y="365125"/>
            <a:ext cx="11182668" cy="1325563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Name of project is slide title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C2A3E6E4-31C4-4AD3-A8A5-E4CD5658B5E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423423" y="1929775"/>
            <a:ext cx="1379957" cy="3100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category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81E6D729-FA1B-45B0-9119-FBE63564E9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423424" y="2239787"/>
            <a:ext cx="1379956" cy="2458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1D2DCD26-B838-47AC-BC62-6A2A8F579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91500" y="2804846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category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CDA2F960-8645-4AD6-8A8B-BE3822B2F79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91500" y="3114858"/>
            <a:ext cx="2004552" cy="2011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907AED70-0F0E-4513-9E7C-93D2BDFCB6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423423" y="2804846"/>
            <a:ext cx="1379957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category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D45B3B9-B8F6-47BD-8EF4-F805B31DC1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423424" y="3114858"/>
            <a:ext cx="1379956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none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Information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26BE47B-E096-40AC-AC79-9628ED07375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91500" y="3699581"/>
            <a:ext cx="2004552" cy="2011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highlights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1C41AEE-0177-4264-9A5C-8102CBCDA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91499" y="4023520"/>
            <a:ext cx="3611881" cy="2226780"/>
          </a:xfrm>
        </p:spPr>
        <p:txBody>
          <a:bodyPr/>
          <a:lstStyle>
            <a:lvl1pPr marL="231775" indent="-231775">
              <a:defRPr sz="1600">
                <a:solidFill>
                  <a:schemeClr val="accent3"/>
                </a:solidFill>
              </a:defRPr>
            </a:lvl1pPr>
            <a:lvl2pPr marL="461963" indent="-225425">
              <a:defRPr sz="1600">
                <a:solidFill>
                  <a:schemeClr val="accent3"/>
                </a:solidFill>
              </a:defRPr>
            </a:lvl2pPr>
            <a:lvl3pPr marL="688975" indent="-225425">
              <a:defRPr sz="1400">
                <a:solidFill>
                  <a:schemeClr val="accent3"/>
                </a:solidFill>
              </a:defRPr>
            </a:lvl3pPr>
            <a:lvl4pPr marL="914400" indent="-225425">
              <a:defRPr sz="1200">
                <a:solidFill>
                  <a:schemeClr val="accent3"/>
                </a:solidFill>
              </a:defRPr>
            </a:lvl4pPr>
            <a:lvl5pPr marL="1139825" indent="-231775"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C8AB3C-BE72-B389-B89C-91460EB32D1E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C79DF97-C0BE-EDBC-4504-06379682CA31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46C348E-58B3-C026-10F1-0CBB13641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7303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rojects - No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4">
            <a:extLst>
              <a:ext uri="{FF2B5EF4-FFF2-40B4-BE49-F238E27FC236}">
                <a16:creationId xmlns:a16="http://schemas.microsoft.com/office/drawing/2014/main" id="{3EF232BB-E277-4527-8F7D-794523C3E0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5380" y="632778"/>
            <a:ext cx="5075219" cy="41631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7F865945-011A-4186-A1E8-6ED26B2456C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480970" y="632778"/>
            <a:ext cx="5075219" cy="41738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08BB2D29-CD96-3D8E-6E27-C9A356074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78" y="4940555"/>
            <a:ext cx="5062221" cy="177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Project name or subhead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87CB49A8-C340-3AA2-CBFF-B4CCF4169D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110" y="5311734"/>
            <a:ext cx="5065190" cy="468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Impact statement about the project should be two lines long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8FF44972-F780-BCD7-AB51-BD8E2184BC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949" y="6010557"/>
            <a:ext cx="5073650" cy="21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i="0" cap="none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Client Name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BC7A36BB-41B9-E15A-B5C6-46F9DBA26E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67109" y="4940555"/>
            <a:ext cx="5062221" cy="2505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Project name or subhead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97765AA9-6B92-0EFC-219C-F9957D66F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1762" y="5311734"/>
            <a:ext cx="5082537" cy="468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Impact statement about the project should be two lines long 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0F9537D-2EA3-0D52-FFE7-B0408E1E53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58744" y="6010557"/>
            <a:ext cx="5082537" cy="21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i="0" cap="none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Client Name</a:t>
            </a:r>
          </a:p>
        </p:txBody>
      </p:sp>
      <p:sp>
        <p:nvSpPr>
          <p:cNvPr id="14" name="Text Placeholder 45">
            <a:extLst>
              <a:ext uri="{FF2B5EF4-FFF2-40B4-BE49-F238E27FC236}">
                <a16:creationId xmlns:a16="http://schemas.microsoft.com/office/drawing/2014/main" id="{9208EA83-986E-4FD5-AFCB-0D4EF4CF70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-964248"/>
            <a:ext cx="4828902" cy="667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7030A0"/>
                </a:solidFill>
              </a:defRPr>
            </a:lvl1pPr>
          </a:lstStyle>
          <a:p>
            <a:pPr lvl="0"/>
            <a:r>
              <a:rPr lang="en-US" dirty="0"/>
              <a:t>Remove optional title if not needed and drag the top line of each photo box to the red guide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6CA0E-2E0B-5171-D553-4EE97968C20C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FA121542-EB8B-72DC-CA1B-3DD1B1145AEA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517CF488-2152-87B7-FD60-6BF8856130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417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rojects - Short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F29D7742-BA78-C5F2-257E-D2B703C0B9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5380" y="513176"/>
            <a:ext cx="5075219" cy="42827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4" name="Picture Placeholder 24">
            <a:extLst>
              <a:ext uri="{FF2B5EF4-FFF2-40B4-BE49-F238E27FC236}">
                <a16:creationId xmlns:a16="http://schemas.microsoft.com/office/drawing/2014/main" id="{0BE8C971-51BA-5C46-A33A-1AF535BCC4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480970" y="523892"/>
            <a:ext cx="5075219" cy="42827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8684ACC9-8BFC-3A4C-31EF-E5658329A7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78" y="4940555"/>
            <a:ext cx="5062221" cy="2505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market or service name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B0148BA2-336E-4D89-5E57-1C0078BF9E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110" y="5254584"/>
            <a:ext cx="5065190" cy="2908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Project name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428D3C79-7ABE-0DA9-27D5-E15C420490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67109" y="4940555"/>
            <a:ext cx="5062221" cy="2505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Market or service name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7110DC20-179C-9611-CBFF-E3F99011B6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1762" y="5254584"/>
            <a:ext cx="5082537" cy="2908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Project name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B1883D5E-FD3B-5CC9-0993-A9151213C4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078" y="5671434"/>
            <a:ext cx="5062221" cy="177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1400" dirty="0" smtClean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</a:rPr>
              <a:t>Client Name </a:t>
            </a:r>
            <a:r>
              <a:rPr lang="en-US" dirty="0"/>
              <a:t>LOCATION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73D4977C-E915-4ADF-8295-94A8F0E006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61762" y="5656443"/>
            <a:ext cx="5062221" cy="177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i="0" cap="none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</a:rPr>
              <a:t>Client Name </a:t>
            </a:r>
            <a:r>
              <a:rPr lang="en-US" dirty="0"/>
              <a:t>LOCATION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A771AFC2-9A8A-8320-CF67-70C64C7837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8378" y="5975218"/>
            <a:ext cx="5062221" cy="177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1200" dirty="0" smtClean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</a:rPr>
              <a:t>Description</a:t>
            </a:r>
            <a:endParaRPr lang="en-US" dirty="0"/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5C9C5AB4-15C4-6D63-8CBF-0A791EBD009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8153" y="5975218"/>
            <a:ext cx="5062221" cy="177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1200" dirty="0" smtClean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</a:rPr>
              <a:t>Description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51BC45-55D1-6E00-6AE3-5F32FDE44D48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1C836256-40FC-BB3D-88AD-0196C060D572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20D6419-C390-D72A-0A95-288DB7F6D1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280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268825DA-7D1F-F93A-097A-6CCDF798FC8A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998879" y="422988"/>
            <a:ext cx="3749041" cy="2423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E0E36FBD-4B57-045D-7AB6-7CC3FD16C7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77800" y="3869905"/>
            <a:ext cx="3369597" cy="1806995"/>
          </a:xfrm>
        </p:spPr>
        <p:txBody>
          <a:bodyPr/>
          <a:lstStyle>
            <a:lvl1pPr marL="0" indent="0" algn="r"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or </a:t>
            </a:r>
            <a:r>
              <a:rPr lang="en-US" noProof="0" dirty="0"/>
              <a:t>three</a:t>
            </a:r>
            <a:r>
              <a:rPr lang="en-US" dirty="0"/>
              <a:t> lines of title can fit here</a:t>
            </a:r>
          </a:p>
        </p:txBody>
      </p:sp>
      <p:sp>
        <p:nvSpPr>
          <p:cNvPr id="31" name="Marcador de texto 20">
            <a:extLst>
              <a:ext uri="{FF2B5EF4-FFF2-40B4-BE49-F238E27FC236}">
                <a16:creationId xmlns:a16="http://schemas.microsoft.com/office/drawing/2014/main" id="{BEBD2054-BEC3-AD2D-4E08-B4DE6534408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998878" y="2856507"/>
            <a:ext cx="3749041" cy="244682"/>
          </a:xfrm>
        </p:spPr>
        <p:txBody>
          <a:bodyPr/>
          <a:lstStyle>
            <a:lvl1pPr marL="0" indent="0">
              <a:buNone/>
              <a:defRPr sz="1100" b="1" cap="all" baseline="0">
                <a:solidFill>
                  <a:schemeClr val="accent1"/>
                </a:solidFill>
                <a:latin typeface="Söhne" panose="020B0503030202060203" pitchFamily="34" charset="0"/>
              </a:defRPr>
            </a:lvl1pPr>
          </a:lstStyle>
          <a:p>
            <a:pPr lvl="0"/>
            <a:r>
              <a:rPr lang="en-US" noProof="0" dirty="0"/>
              <a:t>Client name</a:t>
            </a:r>
          </a:p>
        </p:txBody>
      </p:sp>
      <p:sp>
        <p:nvSpPr>
          <p:cNvPr id="32" name="Marcador de texto 20">
            <a:extLst>
              <a:ext uri="{FF2B5EF4-FFF2-40B4-BE49-F238E27FC236}">
                <a16:creationId xmlns:a16="http://schemas.microsoft.com/office/drawing/2014/main" id="{D560279B-28D8-694E-716C-52B05519B8D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998878" y="3104614"/>
            <a:ext cx="3749041" cy="244682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Project Name</a:t>
            </a:r>
          </a:p>
        </p:txBody>
      </p:sp>
      <p:sp>
        <p:nvSpPr>
          <p:cNvPr id="19" name="Picture Placeholder 24">
            <a:extLst>
              <a:ext uri="{FF2B5EF4-FFF2-40B4-BE49-F238E27FC236}">
                <a16:creationId xmlns:a16="http://schemas.microsoft.com/office/drawing/2014/main" id="{096D3C4E-4C26-C478-D98D-82020808C437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923178" y="422988"/>
            <a:ext cx="3749041" cy="2423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20" name="Marcador de texto 20">
            <a:extLst>
              <a:ext uri="{FF2B5EF4-FFF2-40B4-BE49-F238E27FC236}">
                <a16:creationId xmlns:a16="http://schemas.microsoft.com/office/drawing/2014/main" id="{37B413DB-2176-8010-66F9-EE8503F5D46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923178" y="2856507"/>
            <a:ext cx="3749041" cy="244682"/>
          </a:xfrm>
        </p:spPr>
        <p:txBody>
          <a:bodyPr/>
          <a:lstStyle>
            <a:lvl1pPr marL="0" indent="0">
              <a:buNone/>
              <a:defRPr sz="1100" b="1" cap="all" baseline="0">
                <a:solidFill>
                  <a:schemeClr val="accent1"/>
                </a:solidFill>
                <a:latin typeface="Söhne" panose="020B0503030202060203" pitchFamily="34" charset="0"/>
              </a:defRPr>
            </a:lvl1pPr>
          </a:lstStyle>
          <a:p>
            <a:pPr lvl="0"/>
            <a:r>
              <a:rPr lang="en-US" noProof="0" dirty="0"/>
              <a:t>Client name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CB56556E-8599-811B-AC3F-D28689DCED6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923177" y="3104614"/>
            <a:ext cx="3749041" cy="244682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Project Name</a:t>
            </a:r>
          </a:p>
        </p:txBody>
      </p:sp>
      <p:sp>
        <p:nvSpPr>
          <p:cNvPr id="22" name="Picture Placeholder 24">
            <a:extLst>
              <a:ext uri="{FF2B5EF4-FFF2-40B4-BE49-F238E27FC236}">
                <a16:creationId xmlns:a16="http://schemas.microsoft.com/office/drawing/2014/main" id="{5011BFA2-2919-C641-48C7-19F41CEA5A7C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3998879" y="3547188"/>
            <a:ext cx="3749041" cy="2423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23" name="Marcador de texto 20">
            <a:extLst>
              <a:ext uri="{FF2B5EF4-FFF2-40B4-BE49-F238E27FC236}">
                <a16:creationId xmlns:a16="http://schemas.microsoft.com/office/drawing/2014/main" id="{79808EF3-2775-0327-260C-63A8C064B38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998878" y="5980707"/>
            <a:ext cx="3749041" cy="244682"/>
          </a:xfrm>
        </p:spPr>
        <p:txBody>
          <a:bodyPr/>
          <a:lstStyle>
            <a:lvl1pPr marL="0" indent="0">
              <a:buNone/>
              <a:defRPr sz="1100" b="1" cap="all" baseline="0">
                <a:solidFill>
                  <a:schemeClr val="accent1"/>
                </a:solidFill>
                <a:latin typeface="Söhne" panose="020B0503030202060203" pitchFamily="34" charset="0"/>
              </a:defRPr>
            </a:lvl1pPr>
          </a:lstStyle>
          <a:p>
            <a:pPr lvl="0"/>
            <a:r>
              <a:rPr lang="en-US" noProof="0" dirty="0"/>
              <a:t>Client name</a:t>
            </a:r>
          </a:p>
        </p:txBody>
      </p:sp>
      <p:sp>
        <p:nvSpPr>
          <p:cNvPr id="24" name="Marcador de texto 20">
            <a:extLst>
              <a:ext uri="{FF2B5EF4-FFF2-40B4-BE49-F238E27FC236}">
                <a16:creationId xmlns:a16="http://schemas.microsoft.com/office/drawing/2014/main" id="{1514157E-D30E-4F1A-C50E-91024D6548A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998878" y="6228814"/>
            <a:ext cx="3749041" cy="244682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Project Name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1CA2214F-CA8B-F51A-8630-E8F481FBA155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7923178" y="3547188"/>
            <a:ext cx="3749041" cy="2423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28" name="Marcador de texto 20">
            <a:extLst>
              <a:ext uri="{FF2B5EF4-FFF2-40B4-BE49-F238E27FC236}">
                <a16:creationId xmlns:a16="http://schemas.microsoft.com/office/drawing/2014/main" id="{297769EA-2304-77AC-208B-76AB46B1174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923178" y="5980707"/>
            <a:ext cx="3749041" cy="244682"/>
          </a:xfrm>
        </p:spPr>
        <p:txBody>
          <a:bodyPr/>
          <a:lstStyle>
            <a:lvl1pPr marL="0" indent="0">
              <a:buNone/>
              <a:defRPr sz="1100" b="1" cap="all" baseline="0">
                <a:solidFill>
                  <a:schemeClr val="accent1"/>
                </a:solidFill>
                <a:latin typeface="Söhne" panose="020B0503030202060203" pitchFamily="34" charset="0"/>
              </a:defRPr>
            </a:lvl1pPr>
          </a:lstStyle>
          <a:p>
            <a:pPr lvl="0"/>
            <a:r>
              <a:rPr lang="en-US" noProof="0" dirty="0"/>
              <a:t>Client name</a:t>
            </a:r>
          </a:p>
        </p:txBody>
      </p:sp>
      <p:sp>
        <p:nvSpPr>
          <p:cNvPr id="29" name="Marcador de texto 20">
            <a:extLst>
              <a:ext uri="{FF2B5EF4-FFF2-40B4-BE49-F238E27FC236}">
                <a16:creationId xmlns:a16="http://schemas.microsoft.com/office/drawing/2014/main" id="{8450A3A3-0C18-0E94-80AF-B5B64C9F3C0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923177" y="6228814"/>
            <a:ext cx="3749041" cy="244682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Project Name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847AE59-FE3C-0CD0-6C53-B2C3F80F8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4597" y="422988"/>
            <a:ext cx="1538001" cy="319818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4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6124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and Awards July 20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D08D0A1-B828-56F5-77B0-0BB9F49988A5}"/>
              </a:ext>
            </a:extLst>
          </p:cNvPr>
          <p:cNvSpPr txBox="1"/>
          <p:nvPr userDrawn="1"/>
        </p:nvSpPr>
        <p:spPr>
          <a:xfrm>
            <a:off x="6670234" y="664415"/>
            <a:ext cx="5074092" cy="18162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 are an engineering and technical services firm focused on advancing the human experience through the built environment.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66576-422F-8C65-6165-B2AD50489643}"/>
              </a:ext>
            </a:extLst>
          </p:cNvPr>
          <p:cNvSpPr txBox="1"/>
          <p:nvPr userDrawn="1"/>
        </p:nvSpPr>
        <p:spPr>
          <a:xfrm>
            <a:off x="0" y="5257800"/>
            <a:ext cx="12191999" cy="1600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Söhne" panose="020B0503030202060203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051A9E-2F3B-5E1B-45C5-09DC9228DBBF}"/>
              </a:ext>
            </a:extLst>
          </p:cNvPr>
          <p:cNvSpPr txBox="1"/>
          <p:nvPr userDrawn="1"/>
        </p:nvSpPr>
        <p:spPr>
          <a:xfrm>
            <a:off x="6676318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BD+C E/A Firms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A7D7A-5DC7-86B9-EC49-2C00B619761E}"/>
              </a:ext>
            </a:extLst>
          </p:cNvPr>
          <p:cNvSpPr txBox="1"/>
          <p:nvPr userDrawn="1"/>
        </p:nvSpPr>
        <p:spPr>
          <a:xfrm>
            <a:off x="7752387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MEP Giants 2023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87615-F927-EB9A-A22D-AF3A812A59BA}"/>
              </a:ext>
            </a:extLst>
          </p:cNvPr>
          <p:cNvSpPr txBox="1"/>
          <p:nvPr userDrawn="1"/>
        </p:nvSpPr>
        <p:spPr>
          <a:xfrm>
            <a:off x="8828456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Zweig Hot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Firms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42F4F-5284-C8E0-8887-93DA91EE9EF9}"/>
              </a:ext>
            </a:extLst>
          </p:cNvPr>
          <p:cNvSpPr txBox="1"/>
          <p:nvPr userDrawn="1"/>
        </p:nvSpPr>
        <p:spPr>
          <a:xfrm>
            <a:off x="9961675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12x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Honoree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Inc. 5000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F4DFF-7629-93A0-E88F-87BE24DD8CF8}"/>
              </a:ext>
            </a:extLst>
          </p:cNvPr>
          <p:cNvSpPr txBox="1"/>
          <p:nvPr userDrawn="1"/>
        </p:nvSpPr>
        <p:spPr>
          <a:xfrm>
            <a:off x="10980593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39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ENR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Top 500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018A3140-A15E-4D69-9C58-C6DAAA7282C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30729" y="6858000"/>
            <a:ext cx="5761270" cy="1597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You MUST type category names and info or it won’t show up in presentation mode</a:t>
            </a:r>
          </a:p>
        </p:txBody>
      </p:sp>
      <p:pic>
        <p:nvPicPr>
          <p:cNvPr id="17" name="Picture Placeholder 34">
            <a:extLst>
              <a:ext uri="{FF2B5EF4-FFF2-40B4-BE49-F238E27FC236}">
                <a16:creationId xmlns:a16="http://schemas.microsoft.com/office/drawing/2014/main" id="{9E9B15CD-9B0A-8E2F-545D-59FED4B7A9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3120" r="13120"/>
          <a:stretch>
            <a:fillRect/>
          </a:stretch>
        </p:blipFill>
        <p:spPr>
          <a:xfrm>
            <a:off x="619028" y="647700"/>
            <a:ext cx="5476972" cy="55689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2284820-A94B-7ADA-BF15-76C0082D3C12}"/>
              </a:ext>
            </a:extLst>
          </p:cNvPr>
          <p:cNvSpPr txBox="1"/>
          <p:nvPr userDrawn="1"/>
        </p:nvSpPr>
        <p:spPr>
          <a:xfrm>
            <a:off x="7257116" y="2602088"/>
            <a:ext cx="1830364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90+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3B4646-0713-14DF-A891-9F16891C95B6}"/>
              </a:ext>
            </a:extLst>
          </p:cNvPr>
          <p:cNvSpPr txBox="1"/>
          <p:nvPr userDrawn="1"/>
        </p:nvSpPr>
        <p:spPr>
          <a:xfrm>
            <a:off x="7257116" y="3167503"/>
            <a:ext cx="1830364" cy="54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Offices throughout North America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3934D1-B8C0-4E03-5616-A3ABEF64B12C}"/>
              </a:ext>
            </a:extLst>
          </p:cNvPr>
          <p:cNvSpPr txBox="1"/>
          <p:nvPr userDrawn="1"/>
        </p:nvSpPr>
        <p:spPr>
          <a:xfrm>
            <a:off x="9190691" y="2602088"/>
            <a:ext cx="1830364" cy="6511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$700m+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557D0A-C7BD-D5DB-17E8-9A005B2F091D}"/>
              </a:ext>
            </a:extLst>
          </p:cNvPr>
          <p:cNvSpPr txBox="1"/>
          <p:nvPr userDrawn="1"/>
        </p:nvSpPr>
        <p:spPr>
          <a:xfrm>
            <a:off x="9190691" y="3167503"/>
            <a:ext cx="1830364" cy="54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Annual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revenue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EA9AD0-5E70-ADA2-DEA6-7830015A34D9}"/>
              </a:ext>
            </a:extLst>
          </p:cNvPr>
          <p:cNvSpPr txBox="1"/>
          <p:nvPr userDrawn="1"/>
        </p:nvSpPr>
        <p:spPr>
          <a:xfrm>
            <a:off x="9190691" y="3868913"/>
            <a:ext cx="1830364" cy="6511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600+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8BAB2C-4D97-E6B5-7C25-8874F7B5B962}"/>
              </a:ext>
            </a:extLst>
          </p:cNvPr>
          <p:cNvSpPr txBox="1"/>
          <p:nvPr userDrawn="1"/>
        </p:nvSpPr>
        <p:spPr>
          <a:xfrm>
            <a:off x="9190691" y="4434328"/>
            <a:ext cx="1830364" cy="54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Registered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professionals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797676-5866-BAB0-58CF-2BEE08388F64}"/>
              </a:ext>
            </a:extLst>
          </p:cNvPr>
          <p:cNvSpPr txBox="1"/>
          <p:nvPr userDrawn="1"/>
        </p:nvSpPr>
        <p:spPr>
          <a:xfrm>
            <a:off x="7257116" y="3868913"/>
            <a:ext cx="1830364" cy="6511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3,600+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6C169E-048B-4962-072E-EC9F1238F8EB}"/>
              </a:ext>
            </a:extLst>
          </p:cNvPr>
          <p:cNvSpPr txBox="1"/>
          <p:nvPr userDrawn="1"/>
        </p:nvSpPr>
        <p:spPr>
          <a:xfrm>
            <a:off x="7257116" y="4434328"/>
            <a:ext cx="1830364" cy="54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Team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members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8F6F1B-0E6F-475D-86BE-E81A61A121A3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D0B1ECEF-0CDD-2176-AA9B-18BDD809FF30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4E24BB8-FB86-F064-8C47-60A163AFAB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6610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and Awards (Icons) July 202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166576-422F-8C65-6165-B2AD50489643}"/>
              </a:ext>
            </a:extLst>
          </p:cNvPr>
          <p:cNvSpPr txBox="1"/>
          <p:nvPr userDrawn="1"/>
        </p:nvSpPr>
        <p:spPr>
          <a:xfrm>
            <a:off x="0" y="5257800"/>
            <a:ext cx="12191999" cy="1600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endParaRPr lang="en-US" sz="2400">
              <a:solidFill>
                <a:schemeClr val="accent1"/>
              </a:solidFill>
              <a:latin typeface="Söhne" panose="020B050303020206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A3C02A-1240-567C-E470-3FDF4CC4B2DC}"/>
              </a:ext>
            </a:extLst>
          </p:cNvPr>
          <p:cNvGrpSpPr/>
          <p:nvPr userDrawn="1"/>
        </p:nvGrpSpPr>
        <p:grpSpPr>
          <a:xfrm>
            <a:off x="6670234" y="664415"/>
            <a:ext cx="5074092" cy="4316538"/>
            <a:chOff x="6670234" y="664415"/>
            <a:chExt cx="5074092" cy="431653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8758D29-8E0F-F4A4-8F79-5159F0EC95C1}"/>
                </a:ext>
              </a:extLst>
            </p:cNvPr>
            <p:cNvSpPr txBox="1"/>
            <p:nvPr userDrawn="1"/>
          </p:nvSpPr>
          <p:spPr>
            <a:xfrm>
              <a:off x="6670234" y="664415"/>
              <a:ext cx="5074092" cy="18162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We are an engineering and technical services firm focused on advancing the human experience through the built environment.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C65461C-F78A-C637-B384-9F28F64F412F}"/>
                </a:ext>
              </a:extLst>
            </p:cNvPr>
            <p:cNvSpPr txBox="1"/>
            <p:nvPr userDrawn="1"/>
          </p:nvSpPr>
          <p:spPr>
            <a:xfrm>
              <a:off x="7257116" y="2602088"/>
              <a:ext cx="1830364" cy="651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kern="1200" dirty="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rPr>
                <a:t>90+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D1E8D9-8F2D-2762-D0F0-75515FB8BC81}"/>
                </a:ext>
              </a:extLst>
            </p:cNvPr>
            <p:cNvSpPr txBox="1"/>
            <p:nvPr userDrawn="1"/>
          </p:nvSpPr>
          <p:spPr>
            <a:xfrm>
              <a:off x="7257116" y="3167503"/>
              <a:ext cx="1830364" cy="546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Offices throughout North America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DB4EB9-DF5A-A8C7-DC39-E5CAF71EF4E0}"/>
                </a:ext>
              </a:extLst>
            </p:cNvPr>
            <p:cNvSpPr txBox="1"/>
            <p:nvPr userDrawn="1"/>
          </p:nvSpPr>
          <p:spPr>
            <a:xfrm>
              <a:off x="9190691" y="2602088"/>
              <a:ext cx="1830364" cy="65114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kern="1200" dirty="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rPr>
                <a:t>$700m+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791806-4C8C-0E4A-52AE-A0273A30C73B}"/>
                </a:ext>
              </a:extLst>
            </p:cNvPr>
            <p:cNvSpPr txBox="1"/>
            <p:nvPr userDrawn="1"/>
          </p:nvSpPr>
          <p:spPr>
            <a:xfrm>
              <a:off x="9190691" y="3167503"/>
              <a:ext cx="1830364" cy="546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Annual</a:t>
              </a:r>
              <a:b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DD360A-9F7A-C820-B965-84CFD9D193DD}"/>
                </a:ext>
              </a:extLst>
            </p:cNvPr>
            <p:cNvSpPr txBox="1"/>
            <p:nvPr userDrawn="1"/>
          </p:nvSpPr>
          <p:spPr>
            <a:xfrm>
              <a:off x="9190691" y="3868913"/>
              <a:ext cx="1830364" cy="65114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kern="1200" dirty="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rPr>
                <a:t>600+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CD2BC8-0891-AFE4-CB2D-BC75C46A6A15}"/>
                </a:ext>
              </a:extLst>
            </p:cNvPr>
            <p:cNvSpPr txBox="1"/>
            <p:nvPr userDrawn="1"/>
          </p:nvSpPr>
          <p:spPr>
            <a:xfrm>
              <a:off x="9190691" y="4434328"/>
              <a:ext cx="1830364" cy="546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Registered</a:t>
              </a:r>
              <a:b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professionals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8A0611-2F49-FEEB-9060-5AE4783A602D}"/>
                </a:ext>
              </a:extLst>
            </p:cNvPr>
            <p:cNvSpPr txBox="1"/>
            <p:nvPr userDrawn="1"/>
          </p:nvSpPr>
          <p:spPr>
            <a:xfrm>
              <a:off x="7257116" y="3868913"/>
              <a:ext cx="1830364" cy="65114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kern="1200" dirty="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rPr>
                <a:t>3,600+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08AF1D-103C-918A-4E7C-162F0D9ECBBC}"/>
                </a:ext>
              </a:extLst>
            </p:cNvPr>
            <p:cNvSpPr txBox="1"/>
            <p:nvPr userDrawn="1"/>
          </p:nvSpPr>
          <p:spPr>
            <a:xfrm>
              <a:off x="7257116" y="4434328"/>
              <a:ext cx="1830364" cy="546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Team</a:t>
              </a:r>
              <a:b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4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members</a:t>
              </a:r>
            </a:p>
          </p:txBody>
        </p:sp>
      </p:grpSp>
      <p:pic>
        <p:nvPicPr>
          <p:cNvPr id="13" name="Picture Placeholder 34">
            <a:extLst>
              <a:ext uri="{FF2B5EF4-FFF2-40B4-BE49-F238E27FC236}">
                <a16:creationId xmlns:a16="http://schemas.microsoft.com/office/drawing/2014/main" id="{66F75230-873F-BF41-A506-4C5615BCEB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3120" r="13120"/>
          <a:stretch>
            <a:fillRect/>
          </a:stretch>
        </p:blipFill>
        <p:spPr>
          <a:xfrm>
            <a:off x="619028" y="647700"/>
            <a:ext cx="5476972" cy="5568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2719E0-5A0F-910A-86DF-3AEE068F3E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0087" y="5702547"/>
            <a:ext cx="890202" cy="4451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5D1B9F-4A23-256D-74AA-492CC8E29F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28335" y="5723463"/>
            <a:ext cx="1085366" cy="4504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10D132-1103-7F5A-F838-E9F64560AC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92694" y="5667418"/>
            <a:ext cx="875693" cy="5747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F7935C-0464-E7BF-80DF-D403801657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977" b="-16977"/>
          <a:stretch/>
        </p:blipFill>
        <p:spPr>
          <a:xfrm>
            <a:off x="10803349" y="5546368"/>
            <a:ext cx="1178568" cy="7552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BCA0E-0925-C9CD-2A10-AC4C44D3C52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3949" y="5667400"/>
            <a:ext cx="588549" cy="51077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717A331-281B-4C64-55B0-B327BFD88305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7513F0F3-5CE0-C7E7-9725-013AC125DBDD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19FC096B-1EF5-D767-AB37-BA8790375C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3553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and 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166576-422F-8C65-6165-B2AD50489643}"/>
              </a:ext>
            </a:extLst>
          </p:cNvPr>
          <p:cNvSpPr txBox="1"/>
          <p:nvPr userDrawn="1"/>
        </p:nvSpPr>
        <p:spPr>
          <a:xfrm>
            <a:off x="0" y="5257800"/>
            <a:ext cx="12191999" cy="1600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Söhne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63CC3EC3-7ECD-60C1-8EA5-F8EC8220CD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6318" y="1090203"/>
            <a:ext cx="5097760" cy="15126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US" dirty="0"/>
              <a:t>Tip: Keep sentences to </a:t>
            </a:r>
            <a:r>
              <a:rPr lang="en-US" dirty="0">
                <a:solidFill>
                  <a:schemeClr val="accent1"/>
                </a:solidFill>
              </a:rPr>
              <a:t>6</a:t>
            </a:r>
            <a:r>
              <a:rPr lang="en-US" dirty="0"/>
              <a:t> words. Keep text blocks under </a:t>
            </a:r>
            <a:r>
              <a:rPr lang="en-US" dirty="0">
                <a:solidFill>
                  <a:schemeClr val="accent1"/>
                </a:solidFill>
              </a:rPr>
              <a:t>5</a:t>
            </a:r>
            <a:r>
              <a:rPr lang="en-US" dirty="0"/>
              <a:t> lines. Presentations are a </a:t>
            </a:r>
            <a:r>
              <a:rPr lang="en-US" dirty="0">
                <a:solidFill>
                  <a:schemeClr val="accent1"/>
                </a:solidFill>
              </a:rPr>
              <a:t>visual aid</a:t>
            </a:r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051A9E-2F3B-5E1B-45C5-09DC9228DBBF}"/>
              </a:ext>
            </a:extLst>
          </p:cNvPr>
          <p:cNvSpPr txBox="1"/>
          <p:nvPr userDrawn="1"/>
        </p:nvSpPr>
        <p:spPr>
          <a:xfrm>
            <a:off x="6676318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BD+C E/A Firms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A7D7A-5DC7-86B9-EC49-2C00B619761E}"/>
              </a:ext>
            </a:extLst>
          </p:cNvPr>
          <p:cNvSpPr txBox="1"/>
          <p:nvPr userDrawn="1"/>
        </p:nvSpPr>
        <p:spPr>
          <a:xfrm>
            <a:off x="7752387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MEP Giants 2023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87615-F927-EB9A-A22D-AF3A812A59BA}"/>
              </a:ext>
            </a:extLst>
          </p:cNvPr>
          <p:cNvSpPr txBox="1"/>
          <p:nvPr userDrawn="1"/>
        </p:nvSpPr>
        <p:spPr>
          <a:xfrm>
            <a:off x="8828456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Zweig Hot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Firms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42F4F-5284-C8E0-8887-93DA91EE9EF9}"/>
              </a:ext>
            </a:extLst>
          </p:cNvPr>
          <p:cNvSpPr txBox="1"/>
          <p:nvPr userDrawn="1"/>
        </p:nvSpPr>
        <p:spPr>
          <a:xfrm>
            <a:off x="9961675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12x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Honoree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Inc. 5000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F4DFF-7629-93A0-E88F-87BE24DD8CF8}"/>
              </a:ext>
            </a:extLst>
          </p:cNvPr>
          <p:cNvSpPr txBox="1"/>
          <p:nvPr userDrawn="1"/>
        </p:nvSpPr>
        <p:spPr>
          <a:xfrm>
            <a:off x="10980593" y="5717602"/>
            <a:ext cx="100877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39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ENR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Top 500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088B9C1-6C5A-48E4-A8C7-F03883C6AE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3470" y="285699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40A2FF9-0C09-4218-AC23-F1B096365B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63470" y="335135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Offices across</a:t>
            </a:r>
            <a:br>
              <a:rPr lang="en-US" dirty="0"/>
            </a:br>
            <a:r>
              <a:rPr lang="en-US" dirty="0"/>
              <a:t>North America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57918E0-FD0F-47EA-A6A5-82EAF0803D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3710" y="285699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E67F1466-0C96-4E90-AA61-1FA06F1E13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83710" y="335135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Annual retention of</a:t>
            </a:r>
            <a:br>
              <a:rPr lang="en-US" dirty="0"/>
            </a:br>
            <a:r>
              <a:rPr lang="en-US" dirty="0"/>
              <a:t>team members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D0A58D9-8191-44B6-9ECA-9AC72E2E17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3470" y="3994916"/>
            <a:ext cx="1836716" cy="4980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BE4635E-A5E3-4338-9381-0E6C092318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3470" y="448927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Registered</a:t>
            </a:r>
            <a:br>
              <a:rPr lang="en-US" dirty="0"/>
            </a:br>
            <a:r>
              <a:rPr lang="en-US" dirty="0"/>
              <a:t>professionals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E7A635A-FC44-49D0-9866-106641B70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3710" y="399491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56A248-126C-495C-B0CA-8C14DB2E24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3710" y="448927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Custom stat for</a:t>
            </a:r>
            <a:br>
              <a:rPr lang="en-US" dirty="0"/>
            </a:br>
            <a:r>
              <a:rPr lang="en-US" dirty="0"/>
              <a:t>specific presentation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018A3140-A15E-4D69-9C58-C6DAAA7282C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2700" y="7086915"/>
            <a:ext cx="5761270" cy="1597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You MUST type category names and info or it won’t show up in presentation mode</a:t>
            </a:r>
          </a:p>
        </p:txBody>
      </p:sp>
      <p:sp>
        <p:nvSpPr>
          <p:cNvPr id="20" name="Picture Placeholder 24">
            <a:extLst>
              <a:ext uri="{FF2B5EF4-FFF2-40B4-BE49-F238E27FC236}">
                <a16:creationId xmlns:a16="http://schemas.microsoft.com/office/drawing/2014/main" id="{C8F2BF2B-7DBE-4503-9839-A3791E3842F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25380" y="641350"/>
            <a:ext cx="5476972" cy="556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60D649-7375-2F04-434E-8772C98BF6E2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3067AE4E-3FC5-2F8A-0F43-66F98ACF0434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217B29A-3EC0-D621-5C9E-D510CE95C4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4124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and Awards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166576-422F-8C65-6165-B2AD50489643}"/>
              </a:ext>
            </a:extLst>
          </p:cNvPr>
          <p:cNvSpPr txBox="1"/>
          <p:nvPr userDrawn="1"/>
        </p:nvSpPr>
        <p:spPr>
          <a:xfrm>
            <a:off x="0" y="5257800"/>
            <a:ext cx="12191999" cy="1600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Söhne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63CC3EC3-7ECD-60C1-8EA5-F8EC8220CD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6318" y="1090203"/>
            <a:ext cx="5097760" cy="15126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33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US" dirty="0"/>
              <a:t>Tip: Keep sentences to </a:t>
            </a:r>
            <a:r>
              <a:rPr lang="en-US" dirty="0">
                <a:solidFill>
                  <a:schemeClr val="accent1"/>
                </a:solidFill>
              </a:rPr>
              <a:t>6</a:t>
            </a:r>
            <a:r>
              <a:rPr lang="en-US" dirty="0"/>
              <a:t> words. Keep text blocks under </a:t>
            </a:r>
            <a:r>
              <a:rPr lang="en-US" dirty="0">
                <a:solidFill>
                  <a:schemeClr val="accent1"/>
                </a:solidFill>
              </a:rPr>
              <a:t>5</a:t>
            </a:r>
            <a:r>
              <a:rPr lang="en-US" dirty="0"/>
              <a:t> lines. Presentations are a </a:t>
            </a:r>
            <a:r>
              <a:rPr lang="en-US" dirty="0">
                <a:solidFill>
                  <a:schemeClr val="accent1"/>
                </a:solidFill>
              </a:rPr>
              <a:t>visual aid</a:t>
            </a:r>
            <a:r>
              <a:rPr lang="en-US" dirty="0"/>
              <a:t>.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088B9C1-6C5A-48E4-A8C7-F03883C6AE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3470" y="285699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40A2FF9-0C09-4218-AC23-F1B096365B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63470" y="335135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Offices across</a:t>
            </a:r>
            <a:br>
              <a:rPr lang="en-US"/>
            </a:br>
            <a:r>
              <a:rPr lang="en-US"/>
              <a:t>North America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57918E0-FD0F-47EA-A6A5-82EAF0803D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3710" y="285699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E67F1466-0C96-4E90-AA61-1FA06F1E13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83710" y="335135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Annual retention of</a:t>
            </a:r>
            <a:br>
              <a:rPr lang="en-US"/>
            </a:br>
            <a:r>
              <a:rPr lang="en-US"/>
              <a:t>team members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D0A58D9-8191-44B6-9ECA-9AC72E2E17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3470" y="399491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BE4635E-A5E3-4338-9381-0E6C092318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3470" y="448927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Registered</a:t>
            </a:r>
            <a:br>
              <a:rPr lang="en-US"/>
            </a:br>
            <a:r>
              <a:rPr lang="en-US"/>
              <a:t>professionals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E7A635A-FC44-49D0-9866-106641B70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3710" y="3994916"/>
            <a:ext cx="1836716" cy="498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56A248-126C-495C-B0CA-8C14DB2E24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3710" y="4489279"/>
            <a:ext cx="1836716" cy="595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Custom stat for</a:t>
            </a:r>
            <a:br>
              <a:rPr lang="en-US"/>
            </a:br>
            <a:r>
              <a:rPr lang="en-US"/>
              <a:t>specific presentation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018A3140-A15E-4D69-9C58-C6DAAA7282C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2700" y="7086915"/>
            <a:ext cx="5761270" cy="1597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i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You MUST type category names and info or it won’t show up in presentation mode</a:t>
            </a:r>
          </a:p>
        </p:txBody>
      </p:sp>
      <p:sp>
        <p:nvSpPr>
          <p:cNvPr id="20" name="Picture Placeholder 24">
            <a:extLst>
              <a:ext uri="{FF2B5EF4-FFF2-40B4-BE49-F238E27FC236}">
                <a16:creationId xmlns:a16="http://schemas.microsoft.com/office/drawing/2014/main" id="{C8F2BF2B-7DBE-4503-9839-A3791E3842F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25380" y="641350"/>
            <a:ext cx="5476972" cy="556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D1C39D-79AC-50B7-9017-3C1AF6603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0087" y="5702547"/>
            <a:ext cx="890202" cy="445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5CE5AA-0B40-0BCF-5548-982B41CFC0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28335" y="5723463"/>
            <a:ext cx="1085366" cy="450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620DE-B4A0-D935-1B17-3D48BEA72E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92694" y="5667418"/>
            <a:ext cx="875693" cy="574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9AE5FC-0246-490C-C195-528F667F9B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3949" y="5667400"/>
            <a:ext cx="588549" cy="510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5C5A3D-65E6-8DC2-3C1A-A343C23EB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977" b="-16977"/>
          <a:stretch/>
        </p:blipFill>
        <p:spPr>
          <a:xfrm>
            <a:off x="10803349" y="5546368"/>
            <a:ext cx="1178568" cy="75524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6E21E48-0400-B2A2-45EF-8BDB1B01B498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0E3F2C36-6FC8-0A01-AE9F-B917EDE51C14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E5D42DF-7B91-0883-D65F-37737F03E9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9125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rvices List (Recruiting &amp; Inter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98DD61F-B0E8-4ED6-9F9F-AB5BA56E88A8}"/>
              </a:ext>
            </a:extLst>
          </p:cNvPr>
          <p:cNvSpPr txBox="1"/>
          <p:nvPr userDrawn="1"/>
        </p:nvSpPr>
        <p:spPr>
          <a:xfrm>
            <a:off x="509588" y="367844"/>
            <a:ext cx="11339512" cy="12557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200" b="1" dirty="0">
                <a:latin typeface="Arial" panose="020B0604020202020204" pitchFamily="34" charset="0"/>
              </a:rPr>
              <a:t>Expertise that drives our impact &amp; </a:t>
            </a:r>
          </a:p>
          <a:p>
            <a:pPr>
              <a:lnSpc>
                <a:spcPct val="90000"/>
              </a:lnSpc>
            </a:pPr>
            <a:r>
              <a:rPr lang="en-US" sz="4200" b="1" dirty="0">
                <a:solidFill>
                  <a:schemeClr val="accent1"/>
                </a:solidFill>
                <a:latin typeface="Arial" panose="020B0604020202020204" pitchFamily="34" charset="0"/>
              </a:rPr>
              <a:t>provides unlimited opportunity to the team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F5D81AE-C7EF-9682-D8F5-02750D860D46}"/>
              </a:ext>
            </a:extLst>
          </p:cNvPr>
          <p:cNvGrpSpPr/>
          <p:nvPr userDrawn="1"/>
        </p:nvGrpSpPr>
        <p:grpSpPr>
          <a:xfrm>
            <a:off x="552450" y="2079959"/>
            <a:ext cx="2532063" cy="4472416"/>
            <a:chOff x="552450" y="2079959"/>
            <a:chExt cx="2532063" cy="447241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EFCCF9A-3DED-4E08-9C1F-7DB78587B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8325" y="3080991"/>
              <a:ext cx="2282825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E7A0F5A-3A0C-4566-82B4-105EF8AD2296}"/>
                </a:ext>
              </a:extLst>
            </p:cNvPr>
            <p:cNvSpPr txBox="1"/>
            <p:nvPr userDrawn="1"/>
          </p:nvSpPr>
          <p:spPr>
            <a:xfrm>
              <a:off x="552450" y="3230953"/>
              <a:ext cx="2532063" cy="3321422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Mechanical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Electrical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Plumbing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Fire Protection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Structural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Civil 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Technology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Acoustics 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Architecture &amp; Interiors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Lighting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Building Envelope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Commissioning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A83FAA-F100-40D4-AF25-A2816F39161A}"/>
                </a:ext>
              </a:extLst>
            </p:cNvPr>
            <p:cNvSpPr txBox="1"/>
            <p:nvPr userDrawn="1"/>
          </p:nvSpPr>
          <p:spPr>
            <a:xfrm>
              <a:off x="552450" y="2079959"/>
              <a:ext cx="2508251" cy="83099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Built </a:t>
              </a:r>
              <a:br>
                <a:rPr lang="en-US" sz="2400" b="1" dirty="0">
                  <a:latin typeface="Arial" panose="020B0604020202020204" pitchFamily="34" charset="0"/>
                </a:rPr>
              </a:br>
              <a:r>
                <a:rPr lang="en-US" sz="2400" b="1" dirty="0">
                  <a:latin typeface="Arial" panose="020B0604020202020204" pitchFamily="34" charset="0"/>
                </a:rPr>
                <a:t>Environment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346F511-DB3A-4B92-BCBA-B68B9653315B}"/>
              </a:ext>
            </a:extLst>
          </p:cNvPr>
          <p:cNvGrpSpPr/>
          <p:nvPr userDrawn="1"/>
        </p:nvGrpSpPr>
        <p:grpSpPr>
          <a:xfrm>
            <a:off x="9207500" y="2079959"/>
            <a:ext cx="2717800" cy="3389043"/>
            <a:chOff x="9255125" y="2168859"/>
            <a:chExt cx="2717800" cy="3389043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D51A327-1F62-4597-A729-5F7E7BC5CD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268460" y="3169891"/>
              <a:ext cx="253572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AFB0F3-CBE3-49CA-8191-DDB920EAF377}"/>
                </a:ext>
              </a:extLst>
            </p:cNvPr>
            <p:cNvSpPr txBox="1"/>
            <p:nvPr userDrawn="1"/>
          </p:nvSpPr>
          <p:spPr>
            <a:xfrm>
              <a:off x="9255125" y="3319853"/>
              <a:ext cx="2717800" cy="2238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Process Engineering &amp; Design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Digital &amp; Automation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Facility Design, Operations &amp; Maintenance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Industrial Construction Management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1C4DA3-1076-471C-92C1-B6EE06387D20}"/>
                </a:ext>
              </a:extLst>
            </p:cNvPr>
            <p:cNvSpPr txBox="1"/>
            <p:nvPr userDrawn="1"/>
          </p:nvSpPr>
          <p:spPr>
            <a:xfrm>
              <a:off x="9255125" y="2168859"/>
              <a:ext cx="27146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Process Design &amp; Integration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6DA44D0-2F1B-4928-9051-61DE750618CB}"/>
              </a:ext>
            </a:extLst>
          </p:cNvPr>
          <p:cNvGrpSpPr/>
          <p:nvPr userDrawn="1"/>
        </p:nvGrpSpPr>
        <p:grpSpPr>
          <a:xfrm>
            <a:off x="3089170" y="2079959"/>
            <a:ext cx="3182938" cy="3930729"/>
            <a:chOff x="3039089" y="2168859"/>
            <a:chExt cx="3182938" cy="3930729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F9B4ECE-998A-482D-A303-43C8509488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39089" y="3169891"/>
              <a:ext cx="3056911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FE46DF1-8661-488A-BEDA-754DB1895969}"/>
                </a:ext>
              </a:extLst>
            </p:cNvPr>
            <p:cNvSpPr txBox="1"/>
            <p:nvPr userDrawn="1"/>
          </p:nvSpPr>
          <p:spPr>
            <a:xfrm>
              <a:off x="3039089" y="3319853"/>
              <a:ext cx="3056911" cy="2779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Building Science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Environmental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ESG Consulting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Litigation Support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Theatre Consulting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Forensic Engineering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Asset Management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Public-Private Partnerships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Advanced Technologies &amp; Robotics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0291C87-A82E-47C6-BF33-5BCA6AD648F6}"/>
                </a:ext>
              </a:extLst>
            </p:cNvPr>
            <p:cNvSpPr txBox="1"/>
            <p:nvPr userDrawn="1"/>
          </p:nvSpPr>
          <p:spPr>
            <a:xfrm>
              <a:off x="3048614" y="2168859"/>
              <a:ext cx="31734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Advanced Solutions </a:t>
              </a:r>
              <a:br>
                <a:rPr lang="en-US" sz="2400" b="1" dirty="0">
                  <a:latin typeface="Arial" panose="020B0604020202020204" pitchFamily="34" charset="0"/>
                </a:rPr>
              </a:br>
              <a:r>
                <a:rPr lang="en-US" sz="2400" b="1" dirty="0">
                  <a:latin typeface="Arial" panose="020B0604020202020204" pitchFamily="34" charset="0"/>
                </a:rPr>
                <a:t>&amp; Consulting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2476ED-8A56-4278-AE8B-21F78BCAE2B6}"/>
              </a:ext>
            </a:extLst>
          </p:cNvPr>
          <p:cNvGrpSpPr/>
          <p:nvPr userDrawn="1"/>
        </p:nvGrpSpPr>
        <p:grpSpPr>
          <a:xfrm>
            <a:off x="6397213" y="2079959"/>
            <a:ext cx="2717800" cy="3929255"/>
            <a:chOff x="6456310" y="2168859"/>
            <a:chExt cx="2717800" cy="3929255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B2DEFF-9CC2-4F29-8580-AB70A6A368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58564" y="3169891"/>
              <a:ext cx="2576258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ED9275-9E2C-41F0-BA38-C1696529EA03}"/>
                </a:ext>
              </a:extLst>
            </p:cNvPr>
            <p:cNvSpPr txBox="1"/>
            <p:nvPr userDrawn="1"/>
          </p:nvSpPr>
          <p:spPr>
            <a:xfrm>
              <a:off x="6462660" y="3319853"/>
              <a:ext cx="2711450" cy="277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Geothermal &amp; Renewables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Decarbonization &amp; Sustainability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Transmission &amp; Distribution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Power System Studies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Resource Efficiency Management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Utilities Privatization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6740422-20F5-4AF6-8AF1-419AEE27ED3F}"/>
                </a:ext>
              </a:extLst>
            </p:cNvPr>
            <p:cNvSpPr txBox="1"/>
            <p:nvPr userDrawn="1"/>
          </p:nvSpPr>
          <p:spPr>
            <a:xfrm>
              <a:off x="6456310" y="2168859"/>
              <a:ext cx="27146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Energy </a:t>
              </a:r>
              <a:br>
                <a:rPr lang="en-US" sz="2400" b="1" dirty="0">
                  <a:latin typeface="Arial" panose="020B0604020202020204" pitchFamily="34" charset="0"/>
                </a:rPr>
              </a:br>
              <a:r>
                <a:rPr lang="en-US" sz="2400" b="1" dirty="0">
                  <a:latin typeface="Arial" panose="020B0604020202020204" pitchFamily="34" charset="0"/>
                </a:rPr>
                <a:t>&amp; Resiliency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B9AB29-B8C7-ABD7-C242-14C688B0C036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3A11B490-BC82-36FE-C545-90E10CF38973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CE060CE3-D32D-B03A-273D-11BE151B65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6156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rvices List (Clients &amp; Exter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98DD61F-B0E8-4ED6-9F9F-AB5BA56E88A8}"/>
              </a:ext>
            </a:extLst>
          </p:cNvPr>
          <p:cNvSpPr txBox="1"/>
          <p:nvPr userDrawn="1"/>
        </p:nvSpPr>
        <p:spPr>
          <a:xfrm>
            <a:off x="509588" y="367844"/>
            <a:ext cx="11339512" cy="12557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200" b="1" dirty="0">
                <a:latin typeface="Arial" panose="020B0604020202020204" pitchFamily="34" charset="0"/>
              </a:rPr>
              <a:t>Expertise that drives our impact &amp; </a:t>
            </a:r>
          </a:p>
          <a:p>
            <a:pPr>
              <a:lnSpc>
                <a:spcPct val="90000"/>
              </a:lnSpc>
            </a:pPr>
            <a:r>
              <a:rPr lang="en-US" sz="4200" b="1" dirty="0">
                <a:solidFill>
                  <a:schemeClr val="accent1"/>
                </a:solidFill>
                <a:latin typeface="Arial" panose="020B0604020202020204" pitchFamily="34" charset="0"/>
              </a:rPr>
              <a:t>helps our clients create a positive impact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F5D81AE-C7EF-9682-D8F5-02750D860D46}"/>
              </a:ext>
            </a:extLst>
          </p:cNvPr>
          <p:cNvGrpSpPr/>
          <p:nvPr userDrawn="1"/>
        </p:nvGrpSpPr>
        <p:grpSpPr>
          <a:xfrm>
            <a:off x="552450" y="2079959"/>
            <a:ext cx="2532063" cy="4472416"/>
            <a:chOff x="552450" y="2079959"/>
            <a:chExt cx="2532063" cy="447241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EFCCF9A-3DED-4E08-9C1F-7DB78587B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8325" y="3080991"/>
              <a:ext cx="2282825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E7A0F5A-3A0C-4566-82B4-105EF8AD2296}"/>
                </a:ext>
              </a:extLst>
            </p:cNvPr>
            <p:cNvSpPr txBox="1"/>
            <p:nvPr userDrawn="1"/>
          </p:nvSpPr>
          <p:spPr>
            <a:xfrm>
              <a:off x="552450" y="3230953"/>
              <a:ext cx="2532063" cy="3321422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Mechanical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Electrical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Plumbing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Fire Protection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Structural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Civil 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Technology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Acoustics 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Architecture &amp; Interiors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Lighting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Building Envelope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Commissioning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A83FAA-F100-40D4-AF25-A2816F39161A}"/>
                </a:ext>
              </a:extLst>
            </p:cNvPr>
            <p:cNvSpPr txBox="1"/>
            <p:nvPr userDrawn="1"/>
          </p:nvSpPr>
          <p:spPr>
            <a:xfrm>
              <a:off x="552450" y="2079959"/>
              <a:ext cx="2508251" cy="83099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Built </a:t>
              </a:r>
              <a:br>
                <a:rPr lang="en-US" sz="2400" b="1" dirty="0">
                  <a:latin typeface="Arial" panose="020B0604020202020204" pitchFamily="34" charset="0"/>
                </a:rPr>
              </a:br>
              <a:r>
                <a:rPr lang="en-US" sz="2400" b="1" dirty="0">
                  <a:latin typeface="Arial" panose="020B0604020202020204" pitchFamily="34" charset="0"/>
                </a:rPr>
                <a:t>Environment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346F511-DB3A-4B92-BCBA-B68B9653315B}"/>
              </a:ext>
            </a:extLst>
          </p:cNvPr>
          <p:cNvGrpSpPr/>
          <p:nvPr userDrawn="1"/>
        </p:nvGrpSpPr>
        <p:grpSpPr>
          <a:xfrm>
            <a:off x="9207500" y="2079959"/>
            <a:ext cx="2717800" cy="3389043"/>
            <a:chOff x="9255125" y="2168859"/>
            <a:chExt cx="2717800" cy="3389043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D51A327-1F62-4597-A729-5F7E7BC5CD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268460" y="3169891"/>
              <a:ext cx="253572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AFB0F3-CBE3-49CA-8191-DDB920EAF377}"/>
                </a:ext>
              </a:extLst>
            </p:cNvPr>
            <p:cNvSpPr txBox="1"/>
            <p:nvPr userDrawn="1"/>
          </p:nvSpPr>
          <p:spPr>
            <a:xfrm>
              <a:off x="9255125" y="3319853"/>
              <a:ext cx="2717800" cy="2238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Process Engineering &amp; Design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Digital &amp; Automation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Facility Design, Operations &amp; Maintenance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Industrial Construction Management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1C4DA3-1076-471C-92C1-B6EE06387D20}"/>
                </a:ext>
              </a:extLst>
            </p:cNvPr>
            <p:cNvSpPr txBox="1"/>
            <p:nvPr userDrawn="1"/>
          </p:nvSpPr>
          <p:spPr>
            <a:xfrm>
              <a:off x="9255125" y="2168859"/>
              <a:ext cx="27146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Process Design &amp; Integration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6DA44D0-2F1B-4928-9051-61DE750618CB}"/>
              </a:ext>
            </a:extLst>
          </p:cNvPr>
          <p:cNvGrpSpPr/>
          <p:nvPr userDrawn="1"/>
        </p:nvGrpSpPr>
        <p:grpSpPr>
          <a:xfrm>
            <a:off x="3089170" y="2079959"/>
            <a:ext cx="3182938" cy="3930729"/>
            <a:chOff x="3039089" y="2168859"/>
            <a:chExt cx="3182938" cy="3930729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F9B4ECE-998A-482D-A303-43C8509488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39089" y="3169891"/>
              <a:ext cx="3056911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FE46DF1-8661-488A-BEDA-754DB1895969}"/>
                </a:ext>
              </a:extLst>
            </p:cNvPr>
            <p:cNvSpPr txBox="1"/>
            <p:nvPr userDrawn="1"/>
          </p:nvSpPr>
          <p:spPr>
            <a:xfrm>
              <a:off x="3039089" y="3319853"/>
              <a:ext cx="3056911" cy="2779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Building Science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Environmental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ESG Consulting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Litigation Support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Theatre Consulting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Forensic Engineering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Asset Management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Public-Private Partnerships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Advanced Technologies &amp; Robotics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0291C87-A82E-47C6-BF33-5BCA6AD648F6}"/>
                </a:ext>
              </a:extLst>
            </p:cNvPr>
            <p:cNvSpPr txBox="1"/>
            <p:nvPr userDrawn="1"/>
          </p:nvSpPr>
          <p:spPr>
            <a:xfrm>
              <a:off x="3048614" y="2168859"/>
              <a:ext cx="31734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Advanced Solutions </a:t>
              </a:r>
              <a:br>
                <a:rPr lang="en-US" sz="2400" b="1" dirty="0">
                  <a:latin typeface="Arial" panose="020B0604020202020204" pitchFamily="34" charset="0"/>
                </a:rPr>
              </a:br>
              <a:r>
                <a:rPr lang="en-US" sz="2400" b="1" dirty="0">
                  <a:latin typeface="Arial" panose="020B0604020202020204" pitchFamily="34" charset="0"/>
                </a:rPr>
                <a:t>&amp; Consulting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2476ED-8A56-4278-AE8B-21F78BCAE2B6}"/>
              </a:ext>
            </a:extLst>
          </p:cNvPr>
          <p:cNvGrpSpPr/>
          <p:nvPr userDrawn="1"/>
        </p:nvGrpSpPr>
        <p:grpSpPr>
          <a:xfrm>
            <a:off x="6397213" y="2079959"/>
            <a:ext cx="2717800" cy="3929255"/>
            <a:chOff x="6456310" y="2168859"/>
            <a:chExt cx="2717800" cy="3929255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B2DEFF-9CC2-4F29-8580-AB70A6A368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58564" y="3169891"/>
              <a:ext cx="2576258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ED9275-9E2C-41F0-BA38-C1696529EA03}"/>
                </a:ext>
              </a:extLst>
            </p:cNvPr>
            <p:cNvSpPr txBox="1"/>
            <p:nvPr userDrawn="1"/>
          </p:nvSpPr>
          <p:spPr>
            <a:xfrm>
              <a:off x="6462660" y="3319853"/>
              <a:ext cx="2711450" cy="277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Geothermal &amp; Renewables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Decarbonization &amp; Sustainability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Transmission &amp; Distribution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Power System Studies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Resource Efficiency Management</a:t>
              </a:r>
            </a:p>
            <a:p>
              <a:pPr marL="225425" lvl="0" indent="-225425" algn="l" defTabSz="914400" rtl="0" eaLnBrk="1" latinLnBrk="0" hangingPunct="1">
                <a:lnSpc>
                  <a:spcPct val="110000"/>
                </a:lnSpc>
                <a:buClr>
                  <a:schemeClr val="accent1"/>
                </a:buClr>
                <a:buSzPct val="50000"/>
                <a:buFont typeface="Wingdings 3" panose="05040102010807070707" pitchFamily="18" charset="2"/>
                <a:buChar char=""/>
              </a:pPr>
              <a:r>
                <a:rPr lang="en-US" sz="1600" kern="1200" dirty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+mn-cs"/>
                </a:rPr>
                <a:t>Utilities Privatization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6740422-20F5-4AF6-8AF1-419AEE27ED3F}"/>
                </a:ext>
              </a:extLst>
            </p:cNvPr>
            <p:cNvSpPr txBox="1"/>
            <p:nvPr userDrawn="1"/>
          </p:nvSpPr>
          <p:spPr>
            <a:xfrm>
              <a:off x="6456310" y="2168859"/>
              <a:ext cx="27146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/>
              <a:r>
                <a:rPr lang="en-US" sz="2400" b="1" dirty="0">
                  <a:latin typeface="Arial" panose="020B0604020202020204" pitchFamily="34" charset="0"/>
                </a:rPr>
                <a:t>Energy </a:t>
              </a:r>
              <a:br>
                <a:rPr lang="en-US" sz="2400" b="1" dirty="0">
                  <a:latin typeface="Arial" panose="020B0604020202020204" pitchFamily="34" charset="0"/>
                </a:rPr>
              </a:br>
              <a:r>
                <a:rPr lang="en-US" sz="2400" b="1" dirty="0">
                  <a:latin typeface="Arial" panose="020B0604020202020204" pitchFamily="34" charset="0"/>
                </a:rPr>
                <a:t>&amp; Resiliency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B9AB29-B8C7-ABD7-C242-14C688B0C036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3A11B490-BC82-36FE-C545-90E10CF38973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CE060CE3-D32D-B03A-273D-11BE151B65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3126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E3E01-1335-129C-CFF6-6DA9237417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07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878649E-2FF7-4512-BE39-B054B3A546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25" t="339" r="-55" b="-339"/>
          <a:stretch/>
        </p:blipFill>
        <p:spPr>
          <a:xfrm>
            <a:off x="7835901" y="1849935"/>
            <a:ext cx="3971862" cy="42845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DD61F-B0E8-4ED6-9F9F-AB5BA56E88A8}"/>
              </a:ext>
            </a:extLst>
          </p:cNvPr>
          <p:cNvSpPr txBox="1"/>
          <p:nvPr userDrawn="1"/>
        </p:nvSpPr>
        <p:spPr>
          <a:xfrm>
            <a:off x="509588" y="367844"/>
            <a:ext cx="11460162" cy="12557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200" b="1" dirty="0">
                <a:latin typeface="Arial" panose="020B0604020202020204" pitchFamily="34" charset="0"/>
              </a:rPr>
              <a:t>Critical markets that impact everyday life &amp;</a:t>
            </a:r>
          </a:p>
          <a:p>
            <a:pPr>
              <a:lnSpc>
                <a:spcPct val="90000"/>
              </a:lnSpc>
            </a:pPr>
            <a:r>
              <a:rPr lang="en-US" sz="4200" b="1" dirty="0">
                <a:solidFill>
                  <a:schemeClr val="accent1"/>
                </a:solidFill>
                <a:latin typeface="Arial" panose="020B0604020202020204" pitchFamily="34" charset="0"/>
              </a:rPr>
              <a:t>improve the human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79AC3-EDDB-127E-12D1-AFEF516FD927}"/>
              </a:ext>
            </a:extLst>
          </p:cNvPr>
          <p:cNvSpPr txBox="1"/>
          <p:nvPr userDrawn="1"/>
        </p:nvSpPr>
        <p:spPr>
          <a:xfrm>
            <a:off x="7762990" y="6133100"/>
            <a:ext cx="3125833" cy="76944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lang="en-US" sz="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Southern Connecticut State University Health and Human Services Building </a:t>
            </a:r>
            <a:endParaRPr lang="en-US" sz="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33733-5106-2CF9-A284-F2FEB63A69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51428" y="4779109"/>
            <a:ext cx="1353992" cy="1353991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DFF637-7959-63D3-BB1A-C2704F48AB1C}"/>
              </a:ext>
            </a:extLst>
          </p:cNvPr>
          <p:cNvSpPr txBox="1">
            <a:spLocks/>
          </p:cNvSpPr>
          <p:nvPr userDrawn="1"/>
        </p:nvSpPr>
        <p:spPr>
          <a:xfrm>
            <a:off x="509588" y="1849934"/>
            <a:ext cx="7732712" cy="4472271"/>
          </a:xfrm>
          <a:prstGeom prst="rect">
            <a:avLst/>
          </a:prstGeom>
        </p:spPr>
        <p:txBody>
          <a:bodyPr numCol="2"/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FontTx/>
              <a:buBlip>
                <a:blip r:embed="rId5"/>
              </a:buBlip>
              <a:defRPr sz="28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Söhne Leicht" panose="020B0303030202060203" pitchFamily="34" charset="0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Corporate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Data Centers &amp; Telecom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District Energy Systems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Entertainment &amp; Arts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Federal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Food &amp; Beverage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Healthcare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Higher Education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High-rise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Hospitality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Industrial Manufacturing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K-12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Military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Mixed-Use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Multi-Family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Pharmaceuticals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Power &amp; Utilities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Retail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Science &amp; Technology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Sports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State &amp; Local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Tenant Improvement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Theme Parks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Transportation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Worship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r>
              <a:rPr lang="en-US" sz="2000" dirty="0">
                <a:latin typeface="Arial" panose="020B0604020202020204" pitchFamily="34" charset="0"/>
              </a:rPr>
              <a:t>Zoos &amp; Animal </a:t>
            </a:r>
            <a:br>
              <a:rPr lang="en-US" sz="2000" dirty="0">
                <a:latin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</a:rPr>
              <a:t>Sanctuaries</a:t>
            </a:r>
          </a:p>
          <a:p>
            <a:pPr marL="457200" indent="-457200">
              <a:spcBef>
                <a:spcPts val="0"/>
              </a:spcBef>
              <a:buClr>
                <a:schemeClr val="accent1"/>
              </a:buClr>
              <a:buSzPct val="50000"/>
              <a:buFont typeface="Wingdings 3" panose="05040102010807070707" pitchFamily="18" charset="2"/>
              <a:buChar char="y"/>
            </a:pPr>
            <a:endParaRPr 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200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nior Leadersh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0D6AFE-CBCD-03A9-E239-28A897556ABF}"/>
              </a:ext>
            </a:extLst>
          </p:cNvPr>
          <p:cNvSpPr/>
          <p:nvPr userDrawn="1"/>
        </p:nvSpPr>
        <p:spPr>
          <a:xfrm>
            <a:off x="-1" y="1524000"/>
            <a:ext cx="2768891" cy="533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FD7F9841-C1D8-456C-9D78-212B0AF04E87}"/>
              </a:ext>
            </a:extLst>
          </p:cNvPr>
          <p:cNvSpPr txBox="1">
            <a:spLocks/>
          </p:cNvSpPr>
          <p:nvPr userDrawn="1"/>
        </p:nvSpPr>
        <p:spPr>
          <a:xfrm>
            <a:off x="568266" y="5930549"/>
            <a:ext cx="1884861" cy="501627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Paul Silva</a:t>
            </a:r>
            <a:br>
              <a:rPr lang="en-US" sz="1600" dirty="0">
                <a:solidFill>
                  <a:schemeClr val="accent1"/>
                </a:solidFill>
                <a:latin typeface="Arial" panose="020B0604020202020204" pitchFamily="34" charset="0"/>
              </a:rPr>
            </a:br>
            <a:r>
              <a: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President &amp; COO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61034A-3948-CC36-ACDD-6EF46781DD51}"/>
              </a:ext>
            </a:extLst>
          </p:cNvPr>
          <p:cNvGrpSpPr/>
          <p:nvPr userDrawn="1"/>
        </p:nvGrpSpPr>
        <p:grpSpPr>
          <a:xfrm>
            <a:off x="2971727" y="1722158"/>
            <a:ext cx="3170037" cy="338554"/>
            <a:chOff x="4466330" y="1714110"/>
            <a:chExt cx="3170037" cy="3385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585DA4-BA58-4C00-A50B-37D3887705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54762" y="1805912"/>
              <a:ext cx="152767" cy="15495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C37D5F6-A132-4D69-B11A-286B89AEFA34}"/>
                </a:ext>
              </a:extLst>
            </p:cNvPr>
            <p:cNvSpPr txBox="1"/>
            <p:nvPr userDrawn="1"/>
          </p:nvSpPr>
          <p:spPr>
            <a:xfrm>
              <a:off x="4466330" y="1714110"/>
              <a:ext cx="31700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228600" algn="l" defTabSz="914400" rtl="0" eaLnBrk="1" latinLnBrk="0" hangingPunct="1"/>
              <a:r>
                <a:rPr lang="en-US" sz="1600" b="1" kern="1200" dirty="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Senior Managing Principals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9580B9-EF96-4312-9BB6-F9DB9634D7C7}"/>
              </a:ext>
            </a:extLst>
          </p:cNvPr>
          <p:cNvGrpSpPr/>
          <p:nvPr userDrawn="1"/>
        </p:nvGrpSpPr>
        <p:grpSpPr>
          <a:xfrm>
            <a:off x="547063" y="1722158"/>
            <a:ext cx="1495624" cy="338554"/>
            <a:chOff x="2991535" y="5123301"/>
            <a:chExt cx="1495624" cy="33855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D159F4C-057D-4873-ACC4-6E01CA404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1535" y="5215103"/>
              <a:ext cx="152767" cy="15495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822C841-0AEF-4087-AE95-724655919CE4}"/>
                </a:ext>
              </a:extLst>
            </p:cNvPr>
            <p:cNvSpPr txBox="1"/>
            <p:nvPr/>
          </p:nvSpPr>
          <p:spPr>
            <a:xfrm>
              <a:off x="3144302" y="5123301"/>
              <a:ext cx="13428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kern="1200" dirty="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Executive</a:t>
              </a:r>
              <a:r>
                <a:rPr lang="en-US" sz="1600" b="1" dirty="0">
                  <a:latin typeface="+mj-lt"/>
                </a:rPr>
                <a:t> 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B2F1FE6E-7C5B-4323-9AC1-61777C1CD91A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8" r="21838" b="35014"/>
          <a:stretch/>
        </p:blipFill>
        <p:spPr>
          <a:xfrm>
            <a:off x="9742870" y="4480743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73DD487B-F25D-48BF-845D-1C2425C65B72}"/>
              </a:ext>
            </a:extLst>
          </p:cNvPr>
          <p:cNvSpPr txBox="1">
            <a:spLocks/>
          </p:cNvSpPr>
          <p:nvPr/>
        </p:nvSpPr>
        <p:spPr>
          <a:xfrm>
            <a:off x="9741522" y="5914249"/>
            <a:ext cx="1691942" cy="616080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John Salas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</a:br>
            <a:endParaRPr lang="en-US" sz="16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02CEB8-9306-471F-BC6A-0C57C9906CC2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4" r="18195" b="26711"/>
          <a:stretch/>
        </p:blipFill>
        <p:spPr>
          <a:xfrm>
            <a:off x="5300562" y="4480743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3" name="Content Placeholder 1">
            <a:extLst>
              <a:ext uri="{FF2B5EF4-FFF2-40B4-BE49-F238E27FC236}">
                <a16:creationId xmlns:a16="http://schemas.microsoft.com/office/drawing/2014/main" id="{8C071ACD-E736-46D3-8A57-03D833D18FC9}"/>
              </a:ext>
            </a:extLst>
          </p:cNvPr>
          <p:cNvSpPr txBox="1">
            <a:spLocks/>
          </p:cNvSpPr>
          <p:nvPr/>
        </p:nvSpPr>
        <p:spPr>
          <a:xfrm>
            <a:off x="5300562" y="5913087"/>
            <a:ext cx="1684384" cy="616080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Deirdre McDaniel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</a:br>
            <a:endParaRPr lang="en-US" sz="16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A4B447D-DA37-4FBB-9ACB-70CBC3D6A1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6" r="18136" b="26531"/>
          <a:stretch/>
        </p:blipFill>
        <p:spPr>
          <a:xfrm>
            <a:off x="3078567" y="2185665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063CC014-DBBB-4C71-AA40-7469DF0D7F99}"/>
              </a:ext>
            </a:extLst>
          </p:cNvPr>
          <p:cNvSpPr txBox="1">
            <a:spLocks/>
          </p:cNvSpPr>
          <p:nvPr userDrawn="1"/>
        </p:nvSpPr>
        <p:spPr>
          <a:xfrm>
            <a:off x="3078568" y="3620724"/>
            <a:ext cx="1684383" cy="616079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Tim Burnham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</a:br>
            <a:endParaRPr lang="en-US" sz="16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5A81AE6C-45C3-4773-9DFD-D1820DCE4551}"/>
              </a:ext>
            </a:extLst>
          </p:cNvPr>
          <p:cNvSpPr txBox="1">
            <a:spLocks/>
          </p:cNvSpPr>
          <p:nvPr/>
        </p:nvSpPr>
        <p:spPr>
          <a:xfrm>
            <a:off x="7521566" y="5911866"/>
            <a:ext cx="1684386" cy="616080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Srini Neralla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</a:br>
            <a:endParaRPr lang="en-US" sz="16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99A0F09-6E09-438F-AB3D-8E6BC2566073}"/>
              </a:ext>
            </a:extLst>
          </p:cNvPr>
          <p:cNvPicPr>
            <a:picLocks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2" r="18854" b="25935"/>
          <a:stretch/>
        </p:blipFill>
        <p:spPr>
          <a:xfrm>
            <a:off x="7521041" y="2185665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1" name="Content Placeholder 1">
            <a:extLst>
              <a:ext uri="{FF2B5EF4-FFF2-40B4-BE49-F238E27FC236}">
                <a16:creationId xmlns:a16="http://schemas.microsoft.com/office/drawing/2014/main" id="{546D1AF4-2972-4B32-AEFB-32069E303AA8}"/>
              </a:ext>
            </a:extLst>
          </p:cNvPr>
          <p:cNvSpPr txBox="1">
            <a:spLocks/>
          </p:cNvSpPr>
          <p:nvPr userDrawn="1"/>
        </p:nvSpPr>
        <p:spPr>
          <a:xfrm>
            <a:off x="7524745" y="3618007"/>
            <a:ext cx="1898364" cy="616079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Brad Kalmans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</a:br>
            <a:endParaRPr lang="en-US" sz="16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D89F96-E5A2-4DFE-B1DD-8EBE7DDE7F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3" r="19260" b="26531"/>
          <a:stretch/>
        </p:blipFill>
        <p:spPr>
          <a:xfrm>
            <a:off x="547062" y="2185665"/>
            <a:ext cx="1902067" cy="14630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8" name="Content Placeholder 1">
            <a:extLst>
              <a:ext uri="{FF2B5EF4-FFF2-40B4-BE49-F238E27FC236}">
                <a16:creationId xmlns:a16="http://schemas.microsoft.com/office/drawing/2014/main" id="{589DC5A0-51EE-4589-B467-42B44185FBE0}"/>
              </a:ext>
            </a:extLst>
          </p:cNvPr>
          <p:cNvSpPr txBox="1">
            <a:spLocks/>
          </p:cNvSpPr>
          <p:nvPr userDrawn="1"/>
        </p:nvSpPr>
        <p:spPr>
          <a:xfrm>
            <a:off x="547062" y="3635468"/>
            <a:ext cx="1884861" cy="541568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Darin Anderson</a:t>
            </a:r>
            <a:br>
              <a:rPr lang="en-US" sz="1600" dirty="0">
                <a:solidFill>
                  <a:schemeClr val="accent1"/>
                </a:solidFill>
                <a:latin typeface="Arial" panose="020B0604020202020204" pitchFamily="34" charset="0"/>
              </a:rPr>
            </a:br>
            <a:r>
              <a: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Chairman &amp; CEO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55703-B3C3-424F-B9F7-4BB79660B14C}"/>
              </a:ext>
            </a:extLst>
          </p:cNvPr>
          <p:cNvSpPr txBox="1"/>
          <p:nvPr userDrawn="1"/>
        </p:nvSpPr>
        <p:spPr>
          <a:xfrm>
            <a:off x="4676385" y="500428"/>
            <a:ext cx="5363806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algn="l" defTabSz="914400" rtl="0" eaLnBrk="1" latinLnBrk="0" hangingPunct="1"/>
            <a:r>
              <a:rPr lang="en-US" sz="4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Senior Leadership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BFC3E-F1C0-E846-3689-FDB8B8959884}"/>
              </a:ext>
            </a:extLst>
          </p:cNvPr>
          <p:cNvPicPr>
            <a:picLocks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5" t="4115" r="23510" b="28390"/>
          <a:stretch/>
        </p:blipFill>
        <p:spPr>
          <a:xfrm>
            <a:off x="3060159" y="4480743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6D3B9EE-6564-1928-4274-F5BDAA89F02E}"/>
              </a:ext>
            </a:extLst>
          </p:cNvPr>
          <p:cNvSpPr txBox="1">
            <a:spLocks/>
          </p:cNvSpPr>
          <p:nvPr userDrawn="1"/>
        </p:nvSpPr>
        <p:spPr>
          <a:xfrm>
            <a:off x="3058810" y="5914249"/>
            <a:ext cx="1691942" cy="616080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Harry Kleiser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EC252F-0888-EEEF-A9B8-76542C9D0CA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35636" y="463370"/>
            <a:ext cx="4288764" cy="8577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2FDBA2-A937-4110-BE8E-A96CD47C4CBC}"/>
              </a:ext>
            </a:extLst>
          </p:cNvPr>
          <p:cNvPicPr>
            <a:picLocks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5" r="17873" b="25814"/>
          <a:stretch/>
        </p:blipFill>
        <p:spPr>
          <a:xfrm>
            <a:off x="5300561" y="2185665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2250837D-778F-80F9-175B-6AC02C9C2A55}"/>
              </a:ext>
            </a:extLst>
          </p:cNvPr>
          <p:cNvSpPr txBox="1">
            <a:spLocks/>
          </p:cNvSpPr>
          <p:nvPr userDrawn="1"/>
        </p:nvSpPr>
        <p:spPr>
          <a:xfrm>
            <a:off x="5299047" y="3619171"/>
            <a:ext cx="1902067" cy="616080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Justin </a:t>
            </a:r>
            <a:r>
              <a:rPr lang="en-US" sz="1600" b="1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Kestner</a:t>
            </a:r>
            <a:endParaRPr lang="en-US" sz="16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786D9E-474E-4A76-4EF6-859BA1276D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7" t="869" r="22740" b="29800"/>
          <a:stretch/>
        </p:blipFill>
        <p:spPr>
          <a:xfrm>
            <a:off x="547063" y="4480743"/>
            <a:ext cx="1902066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A59958-3807-EE07-6343-BC8799902194}"/>
              </a:ext>
            </a:extLst>
          </p:cNvPr>
          <p:cNvPicPr>
            <a:picLocks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2" t="1633" r="20130" b="27491"/>
          <a:stretch/>
        </p:blipFill>
        <p:spPr>
          <a:xfrm>
            <a:off x="7521042" y="4480743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AA6CA-E450-9367-04F2-0F742A149778}"/>
              </a:ext>
            </a:extLst>
          </p:cNvPr>
          <p:cNvPicPr>
            <a:picLocks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9" t="3559" r="20149" b="27560"/>
          <a:stretch/>
        </p:blipFill>
        <p:spPr>
          <a:xfrm>
            <a:off x="9742870" y="2185665"/>
            <a:ext cx="1902067" cy="14630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596C06CA-9EF6-9917-741D-40018B78751A}"/>
              </a:ext>
            </a:extLst>
          </p:cNvPr>
          <p:cNvSpPr txBox="1">
            <a:spLocks/>
          </p:cNvSpPr>
          <p:nvPr userDrawn="1"/>
        </p:nvSpPr>
        <p:spPr>
          <a:xfrm>
            <a:off x="9741521" y="3619171"/>
            <a:ext cx="1691942" cy="616080"/>
          </a:xfrm>
          <a:prstGeom prst="rect">
            <a:avLst/>
          </a:prstGeom>
        </p:spPr>
        <p:txBody>
          <a:bodyPr vert="horz" lIns="0" tIns="91440" rIns="0" bIns="45720" numCol="1" rtlCol="0">
            <a:noAutofit/>
          </a:bodyPr>
          <a:lstStyle>
            <a:lvl1pPr marL="457200" indent="-457200" algn="l" defTabSz="914400" rtl="0" eaLnBrk="1" latinLnBrk="0" hangingPunct="1">
              <a:lnSpc>
                <a:spcPts val="3700"/>
              </a:lnSpc>
              <a:spcBef>
                <a:spcPts val="1800"/>
              </a:spcBef>
              <a:buFontTx/>
              <a:buBlip>
                <a:blip r:embed="rId2"/>
              </a:buBlip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ts val="32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ts val="26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ts val="24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Aft>
                <a:spcPts val="1200"/>
              </a:spcAft>
              <a:buFontTx/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Shane Kirby</a:t>
            </a:r>
          </a:p>
        </p:txBody>
      </p:sp>
    </p:spTree>
    <p:extLst>
      <p:ext uri="{BB962C8B-B14F-4D97-AF65-F5344CB8AC3E}">
        <p14:creationId xmlns:p14="http://schemas.microsoft.com/office/powerpoint/2010/main" val="2906492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5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9DDE3ED0-4FFD-A452-1821-32286FE9CCE7}"/>
              </a:ext>
            </a:extLst>
          </p:cNvPr>
          <p:cNvSpPr txBox="1">
            <a:spLocks/>
          </p:cNvSpPr>
          <p:nvPr userDrawn="1"/>
        </p:nvSpPr>
        <p:spPr>
          <a:xfrm>
            <a:off x="2008562" y="695324"/>
            <a:ext cx="2330729" cy="5968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Söhne Halbfett" panose="020B070303020206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Goals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948E1E-4114-6745-44EC-3AB8A1B6D7D7}"/>
              </a:ext>
            </a:extLst>
          </p:cNvPr>
          <p:cNvSpPr txBox="1"/>
          <p:nvPr userDrawn="1"/>
        </p:nvSpPr>
        <p:spPr>
          <a:xfrm>
            <a:off x="530058" y="3587959"/>
            <a:ext cx="2084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latin typeface="Arial" panose="020B0604020202020204" pitchFamily="34" charset="0"/>
              </a:rPr>
              <a:t>Most respected engineering and technical services firm in the galaxy!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D6B0A8E-B628-3DDA-C909-76EB588A6C33}"/>
              </a:ext>
            </a:extLst>
          </p:cNvPr>
          <p:cNvSpPr txBox="1"/>
          <p:nvPr userDrawn="1"/>
        </p:nvSpPr>
        <p:spPr>
          <a:xfrm>
            <a:off x="2807367" y="3587959"/>
            <a:ext cx="2084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latin typeface="Arial" panose="020B0604020202020204" pitchFamily="34" charset="0"/>
              </a:rPr>
              <a:t>Destination employer—be an outstanding place to work!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F83FBD8-DCF0-E0C6-9E4B-B34F83AD5463}"/>
              </a:ext>
            </a:extLst>
          </p:cNvPr>
          <p:cNvSpPr txBox="1"/>
          <p:nvPr userDrawn="1"/>
        </p:nvSpPr>
        <p:spPr>
          <a:xfrm>
            <a:off x="5084676" y="3587959"/>
            <a:ext cx="2084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latin typeface="Arial" panose="020B0604020202020204" pitchFamily="34" charset="0"/>
              </a:rPr>
              <a:t>High-performing operationally &amp;</a:t>
            </a:r>
            <a:br>
              <a:rPr lang="en-US" sz="1800" dirty="0">
                <a:latin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</a:rPr>
              <a:t>financially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2D98EA8-3AD4-C869-8920-46FB160016A7}"/>
              </a:ext>
            </a:extLst>
          </p:cNvPr>
          <p:cNvSpPr txBox="1"/>
          <p:nvPr userDrawn="1"/>
        </p:nvSpPr>
        <p:spPr>
          <a:xfrm>
            <a:off x="7361985" y="3587959"/>
            <a:ext cx="2084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Drive positive impact on sustainability in our communities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1B839EC-8635-506A-0990-6AB79AAED611}"/>
              </a:ext>
            </a:extLst>
          </p:cNvPr>
          <p:cNvSpPr txBox="1"/>
          <p:nvPr userDrawn="1"/>
        </p:nvSpPr>
        <p:spPr>
          <a:xfrm>
            <a:off x="9639294" y="3594565"/>
            <a:ext cx="2084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Promote a best-in-class safety culture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93030A3-8790-FC46-275E-A2970E02194A}"/>
              </a:ext>
            </a:extLst>
          </p:cNvPr>
          <p:cNvSpPr txBox="1"/>
          <p:nvPr userDrawn="1"/>
        </p:nvSpPr>
        <p:spPr>
          <a:xfrm>
            <a:off x="530058" y="2707032"/>
            <a:ext cx="208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9945445-6A74-9A3C-4970-E021CCEC79D6}"/>
              </a:ext>
            </a:extLst>
          </p:cNvPr>
          <p:cNvSpPr txBox="1"/>
          <p:nvPr userDrawn="1"/>
        </p:nvSpPr>
        <p:spPr>
          <a:xfrm>
            <a:off x="2807367" y="2707032"/>
            <a:ext cx="208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EE9EA9C-21E2-68D8-7707-02532EEA9A78}"/>
              </a:ext>
            </a:extLst>
          </p:cNvPr>
          <p:cNvSpPr txBox="1"/>
          <p:nvPr userDrawn="1"/>
        </p:nvSpPr>
        <p:spPr>
          <a:xfrm>
            <a:off x="5084676" y="2707032"/>
            <a:ext cx="208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C77BE1B-F562-AE65-75BF-46A1BB6E0B24}"/>
              </a:ext>
            </a:extLst>
          </p:cNvPr>
          <p:cNvSpPr txBox="1"/>
          <p:nvPr userDrawn="1"/>
        </p:nvSpPr>
        <p:spPr>
          <a:xfrm>
            <a:off x="7361985" y="2707032"/>
            <a:ext cx="208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</a:rPr>
              <a:t>4</a:t>
            </a:r>
            <a:endParaRPr lang="en-US" sz="36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9BBECF9-9624-5D94-31C5-8F9ABE453C59}"/>
              </a:ext>
            </a:extLst>
          </p:cNvPr>
          <p:cNvSpPr txBox="1"/>
          <p:nvPr userDrawn="1"/>
        </p:nvSpPr>
        <p:spPr>
          <a:xfrm>
            <a:off x="9639294" y="2713638"/>
            <a:ext cx="208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</a:rPr>
              <a:t>5</a:t>
            </a:r>
            <a:endParaRPr lang="en-US" sz="36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0" name="Title 4">
            <a:extLst>
              <a:ext uri="{FF2B5EF4-FFF2-40B4-BE49-F238E27FC236}">
                <a16:creationId xmlns:a16="http://schemas.microsoft.com/office/drawing/2014/main" id="{ED47F33B-06E0-214C-EE88-6355ABF3A796}"/>
              </a:ext>
            </a:extLst>
          </p:cNvPr>
          <p:cNvSpPr txBox="1">
            <a:spLocks/>
          </p:cNvSpPr>
          <p:nvPr userDrawn="1"/>
        </p:nvSpPr>
        <p:spPr>
          <a:xfrm>
            <a:off x="575937" y="695324"/>
            <a:ext cx="1565795" cy="5968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Söhne Halbfett" panose="020B070303020206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</a:rPr>
              <a:t>2025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9E68DAB-66AF-171B-235D-A431F512C427}"/>
              </a:ext>
            </a:extLst>
          </p:cNvPr>
          <p:cNvCxnSpPr/>
          <p:nvPr userDrawn="1"/>
        </p:nvCxnSpPr>
        <p:spPr>
          <a:xfrm>
            <a:off x="575937" y="3376156"/>
            <a:ext cx="1935769" cy="0"/>
          </a:xfrm>
          <a:prstGeom prst="line">
            <a:avLst/>
          </a:prstGeom>
          <a:ln w="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5557E6B-CACA-29C5-A801-A2CAC8572966}"/>
              </a:ext>
            </a:extLst>
          </p:cNvPr>
          <p:cNvCxnSpPr/>
          <p:nvPr userDrawn="1"/>
        </p:nvCxnSpPr>
        <p:spPr>
          <a:xfrm>
            <a:off x="2881884" y="3376156"/>
            <a:ext cx="1935769" cy="0"/>
          </a:xfrm>
          <a:prstGeom prst="line">
            <a:avLst/>
          </a:prstGeom>
          <a:ln w="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21F7093-FB63-6FAE-A920-06A110EF9F98}"/>
              </a:ext>
            </a:extLst>
          </p:cNvPr>
          <p:cNvCxnSpPr/>
          <p:nvPr userDrawn="1"/>
        </p:nvCxnSpPr>
        <p:spPr>
          <a:xfrm>
            <a:off x="5128115" y="3376156"/>
            <a:ext cx="1935769" cy="0"/>
          </a:xfrm>
          <a:prstGeom prst="line">
            <a:avLst/>
          </a:prstGeom>
          <a:ln w="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6C4022E-B1DE-6E4E-A406-B4A2BA351B1C}"/>
              </a:ext>
            </a:extLst>
          </p:cNvPr>
          <p:cNvCxnSpPr/>
          <p:nvPr userDrawn="1"/>
        </p:nvCxnSpPr>
        <p:spPr>
          <a:xfrm>
            <a:off x="7436502" y="3376156"/>
            <a:ext cx="1935769" cy="0"/>
          </a:xfrm>
          <a:prstGeom prst="line">
            <a:avLst/>
          </a:prstGeom>
          <a:ln w="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4A137DE-F473-2241-DE42-69225B7E2624}"/>
              </a:ext>
            </a:extLst>
          </p:cNvPr>
          <p:cNvCxnSpPr/>
          <p:nvPr userDrawn="1"/>
        </p:nvCxnSpPr>
        <p:spPr>
          <a:xfrm>
            <a:off x="9713811" y="3376156"/>
            <a:ext cx="1935769" cy="0"/>
          </a:xfrm>
          <a:prstGeom prst="line">
            <a:avLst/>
          </a:prstGeom>
          <a:ln w="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1D6B959-BEF8-7FAB-B0EE-ADF354B305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10952546" y="5618546"/>
            <a:ext cx="1239454" cy="1239454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7C0E84-C48A-153E-6A14-B98AE5903743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AD107100-6292-52AA-CFBF-4D3BD1B12815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B526699-6B86-ED1E-58DD-21051BA3A3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3680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n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rc 134">
            <a:extLst>
              <a:ext uri="{FF2B5EF4-FFF2-40B4-BE49-F238E27FC236}">
                <a16:creationId xmlns:a16="http://schemas.microsoft.com/office/drawing/2014/main" id="{89E7BCAB-965A-6B21-99D5-0AF500D2BA6B}"/>
              </a:ext>
            </a:extLst>
          </p:cNvPr>
          <p:cNvSpPr/>
          <p:nvPr userDrawn="1"/>
        </p:nvSpPr>
        <p:spPr>
          <a:xfrm>
            <a:off x="10801151" y="1645444"/>
            <a:ext cx="1190839" cy="1793281"/>
          </a:xfrm>
          <a:prstGeom prst="arc">
            <a:avLst>
              <a:gd name="adj1" fmla="val 17753140"/>
              <a:gd name="adj2" fmla="val 5547157"/>
            </a:avLst>
          </a:prstGeom>
          <a:ln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187">
            <a:extLst>
              <a:ext uri="{FF2B5EF4-FFF2-40B4-BE49-F238E27FC236}">
                <a16:creationId xmlns:a16="http://schemas.microsoft.com/office/drawing/2014/main" id="{FE5A127A-87DF-9F72-66B7-E9B272075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796" y="5239913"/>
            <a:ext cx="1878474" cy="646331"/>
          </a:xfrm>
          <a:prstGeom prst="rect">
            <a:avLst/>
          </a:prstGeom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Closed on 6 mergers, with expansion in Northeast and commitment to federal sector​.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59E3F7B6-A510-61F0-FFEA-A11A17F81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944" y="4739669"/>
            <a:ext cx="91050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2021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62" name="TextBox 199">
            <a:extLst>
              <a:ext uri="{FF2B5EF4-FFF2-40B4-BE49-F238E27FC236}">
                <a16:creationId xmlns:a16="http://schemas.microsoft.com/office/drawing/2014/main" id="{67430E7C-A787-F5FC-A81A-46DF7808A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797" y="5239913"/>
            <a:ext cx="1828800" cy="1154162"/>
          </a:xfrm>
          <a:prstGeom prst="rect">
            <a:avLst/>
          </a:prstGeom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HR implements UKG (HRIS) for enhanced people system. Eight mergers strengthen capabilities, specifically in tech and acoustics and healthcare sectors.​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3" name="Rectangle 30">
            <a:extLst>
              <a:ext uri="{FF2B5EF4-FFF2-40B4-BE49-F238E27FC236}">
                <a16:creationId xmlns:a16="http://schemas.microsoft.com/office/drawing/2014/main" id="{E4B627D0-A4D9-6A20-8FF2-B29B18DD5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944" y="4739669"/>
            <a:ext cx="9105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2022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65" name="TextBox 4">
            <a:extLst>
              <a:ext uri="{FF2B5EF4-FFF2-40B4-BE49-F238E27FC236}">
                <a16:creationId xmlns:a16="http://schemas.microsoft.com/office/drawing/2014/main" id="{0E5AEDFB-F054-267E-84D7-3E47CDC10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1021" y="5239913"/>
            <a:ext cx="1828800" cy="1323439"/>
          </a:xfrm>
          <a:prstGeom prst="rect">
            <a:avLst/>
          </a:prstGeom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Brand refresh better communicates our story and enhances market position. Five mergers join, bolstering our process engineering, ESG consulting and geographic reach.​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6" name="Rectangle 30">
            <a:extLst>
              <a:ext uri="{FF2B5EF4-FFF2-40B4-BE49-F238E27FC236}">
                <a16:creationId xmlns:a16="http://schemas.microsoft.com/office/drawing/2014/main" id="{EA087B78-2039-53E5-3B34-6CA593CF8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0170" y="4739669"/>
            <a:ext cx="9105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2023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68" name="TextBox 7">
            <a:extLst>
              <a:ext uri="{FF2B5EF4-FFF2-40B4-BE49-F238E27FC236}">
                <a16:creationId xmlns:a16="http://schemas.microsoft.com/office/drawing/2014/main" id="{FB23FBA2-706E-B17C-5E19-6991E1CD5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781" y="5239913"/>
            <a:ext cx="1828800" cy="1154162"/>
          </a:xfrm>
          <a:prstGeom prst="rect">
            <a:avLst/>
          </a:prstGeom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Leading PE firm Blackstone makes significant minority investment to accelerate growth. Salas O’Brien ranks #39 on ENR, breaking into the top 50 for the first time.​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9" name="Rectangle 30">
            <a:extLst>
              <a:ext uri="{FF2B5EF4-FFF2-40B4-BE49-F238E27FC236}">
                <a16:creationId xmlns:a16="http://schemas.microsoft.com/office/drawing/2014/main" id="{827B79DE-8B53-EFDF-6016-1469213C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929" y="4739669"/>
            <a:ext cx="9105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70" name="Straight Arrow Connector 50">
            <a:extLst>
              <a:ext uri="{FF2B5EF4-FFF2-40B4-BE49-F238E27FC236}">
                <a16:creationId xmlns:a16="http://schemas.microsoft.com/office/drawing/2014/main" id="{C2559125-5F73-1CA5-B738-D7366E8A0416}"/>
              </a:ext>
            </a:extLst>
          </p:cNvPr>
          <p:cNvCxnSpPr>
            <a:cxnSpLocks/>
          </p:cNvCxnSpPr>
          <p:nvPr userDrawn="1"/>
        </p:nvCxnSpPr>
        <p:spPr>
          <a:xfrm>
            <a:off x="1038186" y="5225920"/>
            <a:ext cx="8336723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32">
            <a:extLst>
              <a:ext uri="{FF2B5EF4-FFF2-40B4-BE49-F238E27FC236}">
                <a16:creationId xmlns:a16="http://schemas.microsoft.com/office/drawing/2014/main" id="{FA996813-0DDE-ECA4-0D36-6F77112B5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52" y="1659291"/>
            <a:ext cx="1828800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Dan O’Brien establishes O’Brien &amp; Assoc. at the height of the 1970’s energy crisis. Carl Salas, Roy Goodman, John Salas, and Louis Ortega join the firm.​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3" name="Rectangle 30">
            <a:extLst>
              <a:ext uri="{FF2B5EF4-FFF2-40B4-BE49-F238E27FC236}">
                <a16:creationId xmlns:a16="http://schemas.microsoft.com/office/drawing/2014/main" id="{666B23F0-CC2A-94B3-09EB-0D029E80A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88" y="1167442"/>
            <a:ext cx="1138132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ru-RU" sz="3200" b="1" dirty="0">
                <a:latin typeface="+mj-lt"/>
              </a:rPr>
              <a:t>1970s</a:t>
            </a:r>
            <a:endParaRPr lang="ru-RU" altLang="ru-RU" sz="3200" b="1" dirty="0">
              <a:latin typeface="+mj-lt"/>
            </a:endParaRPr>
          </a:p>
        </p:txBody>
      </p:sp>
      <p:sp>
        <p:nvSpPr>
          <p:cNvPr id="75" name="TextBox 34">
            <a:extLst>
              <a:ext uri="{FF2B5EF4-FFF2-40B4-BE49-F238E27FC236}">
                <a16:creationId xmlns:a16="http://schemas.microsoft.com/office/drawing/2014/main" id="{DA9D7686-A532-85A7-F32C-4655F0A80C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912543" y="1659291"/>
            <a:ext cx="1828799" cy="984885"/>
          </a:xfrm>
          <a:prstGeom prst="rect">
            <a:avLst/>
          </a:prstGeom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i="1" dirty="0">
                <a:solidFill>
                  <a:schemeClr val="tx2"/>
                </a:solidFill>
                <a:latin typeface="+mn-lt"/>
              </a:rPr>
              <a:t>San Jose Mercury News </a:t>
            </a:r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features Salas O’Brien Engineers as the first “energy auditing firm” in the United States.​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6" name="Rectangle 30">
            <a:extLst>
              <a:ext uri="{FF2B5EF4-FFF2-40B4-BE49-F238E27FC236}">
                <a16:creationId xmlns:a16="http://schemas.microsoft.com/office/drawing/2014/main" id="{AF6E9A08-1C42-3859-AA9B-08D94FDC21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1690" y="1167442"/>
            <a:ext cx="910507" cy="538609"/>
          </a:xfrm>
          <a:prstGeom prst="rect">
            <a:avLst/>
          </a:prstGeom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1981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78" name="TextBox 36">
            <a:extLst>
              <a:ext uri="{FF2B5EF4-FFF2-40B4-BE49-F238E27FC236}">
                <a16:creationId xmlns:a16="http://schemas.microsoft.com/office/drawing/2014/main" id="{8289E994-9C48-7B33-7592-8C3E7A826D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50733" y="1659291"/>
            <a:ext cx="18288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i="0" dirty="0">
                <a:solidFill>
                  <a:schemeClr val="tx2"/>
                </a:solidFill>
                <a:latin typeface="+mn-lt"/>
              </a:rPr>
              <a:t>Darin Anderson, Chuck O’Neal, and Paul Silva purchase 85% of the company from Carl and Marianne Salas.​</a:t>
            </a:r>
            <a:endParaRPr lang="ru-RU" altLang="en-US" sz="1100" i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9" name="Rectangle 30">
            <a:extLst>
              <a:ext uri="{FF2B5EF4-FFF2-40B4-BE49-F238E27FC236}">
                <a16:creationId xmlns:a16="http://schemas.microsoft.com/office/drawing/2014/main" id="{3D30C759-1CA1-38C6-DACB-685BE17CB0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9880" y="1167442"/>
            <a:ext cx="9105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2006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81" name="TextBox 38">
            <a:extLst>
              <a:ext uri="{FF2B5EF4-FFF2-40B4-BE49-F238E27FC236}">
                <a16:creationId xmlns:a16="http://schemas.microsoft.com/office/drawing/2014/main" id="{B3E42640-1949-4B4F-B7EF-4325E87EEA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88924" y="1659291"/>
            <a:ext cx="18288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Salas O’Brien debuts on the MEP Giants list at #97.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2" name="Rectangle 30">
            <a:extLst>
              <a:ext uri="{FF2B5EF4-FFF2-40B4-BE49-F238E27FC236}">
                <a16:creationId xmlns:a16="http://schemas.microsoft.com/office/drawing/2014/main" id="{2D32FEA1-958B-22CC-F205-553821A220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48071" y="1167442"/>
            <a:ext cx="9105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2008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83" name="Straight Arrow Connector 40">
            <a:extLst>
              <a:ext uri="{FF2B5EF4-FFF2-40B4-BE49-F238E27FC236}">
                <a16:creationId xmlns:a16="http://schemas.microsoft.com/office/drawing/2014/main" id="{B3F1458D-ABC3-0A6F-917B-D6187BC4964F}"/>
              </a:ext>
            </a:extLst>
          </p:cNvPr>
          <p:cNvCxnSpPr>
            <a:cxnSpLocks/>
            <a:stCxn id="18" idx="5"/>
          </p:cNvCxnSpPr>
          <p:nvPr userDrawn="1"/>
        </p:nvCxnSpPr>
        <p:spPr>
          <a:xfrm flipV="1">
            <a:off x="538103" y="1650092"/>
            <a:ext cx="11095308" cy="2007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41">
            <a:extLst>
              <a:ext uri="{FF2B5EF4-FFF2-40B4-BE49-F238E27FC236}">
                <a16:creationId xmlns:a16="http://schemas.microsoft.com/office/drawing/2014/main" id="{3E803C9F-11AF-8196-0C77-174ADF383E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27115" y="1659291"/>
            <a:ext cx="1898353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Merger in Pacific Northwest supports growth in data center and telecom markets, marking first significant merger.​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6" name="Rectangle 30">
            <a:extLst>
              <a:ext uri="{FF2B5EF4-FFF2-40B4-BE49-F238E27FC236}">
                <a16:creationId xmlns:a16="http://schemas.microsoft.com/office/drawing/2014/main" id="{47E1C47A-8360-128C-7043-FB253C215D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1038" y="1167442"/>
            <a:ext cx="91050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2012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88" name="TextBox 145">
            <a:extLst>
              <a:ext uri="{FF2B5EF4-FFF2-40B4-BE49-F238E27FC236}">
                <a16:creationId xmlns:a16="http://schemas.microsoft.com/office/drawing/2014/main" id="{A1764132-D5E9-7D1E-0606-DAEF1DAF74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65695" y="3479207"/>
            <a:ext cx="1828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Four mergers join and support launch into industrial sector.​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9" name="Rectangle 30">
            <a:extLst>
              <a:ext uri="{FF2B5EF4-FFF2-40B4-BE49-F238E27FC236}">
                <a16:creationId xmlns:a16="http://schemas.microsoft.com/office/drawing/2014/main" id="{FFDB1A30-78F9-E74C-0CE1-78FF2A5E40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26509" y="2977733"/>
            <a:ext cx="907172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2018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2" name="TextBox 59">
            <a:extLst>
              <a:ext uri="{FF2B5EF4-FFF2-40B4-BE49-F238E27FC236}">
                <a16:creationId xmlns:a16="http://schemas.microsoft.com/office/drawing/2014/main" id="{968CE573-5FDD-A06D-3C85-F50DB91BA2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913785" y="3460157"/>
            <a:ext cx="1828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Four mergers expand presence in Midwest and increase energy expertise.​</a:t>
            </a:r>
          </a:p>
        </p:txBody>
      </p:sp>
      <p:sp>
        <p:nvSpPr>
          <p:cNvPr id="103" name="Rectangle 30">
            <a:extLst>
              <a:ext uri="{FF2B5EF4-FFF2-40B4-BE49-F238E27FC236}">
                <a16:creationId xmlns:a16="http://schemas.microsoft.com/office/drawing/2014/main" id="{B6D3DCDD-65EB-8504-2DE0-660BFBA1223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6204" y="2958683"/>
            <a:ext cx="903965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2019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0" name="TextBox 169">
            <a:extLst>
              <a:ext uri="{FF2B5EF4-FFF2-40B4-BE49-F238E27FC236}">
                <a16:creationId xmlns:a16="http://schemas.microsoft.com/office/drawing/2014/main" id="{D271067A-48F3-412C-0086-7E3CE3C88B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23258" y="3460157"/>
            <a:ext cx="18288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Merger expands presence in southern US.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01" name="Rectangle 30">
            <a:extLst>
              <a:ext uri="{FF2B5EF4-FFF2-40B4-BE49-F238E27FC236}">
                <a16:creationId xmlns:a16="http://schemas.microsoft.com/office/drawing/2014/main" id="{D2251039-8394-D1FB-9E4D-9954DCFCE2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82471" y="2958683"/>
            <a:ext cx="91037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2014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98" name="Rectangle 30">
            <a:extLst>
              <a:ext uri="{FF2B5EF4-FFF2-40B4-BE49-F238E27FC236}">
                <a16:creationId xmlns:a16="http://schemas.microsoft.com/office/drawing/2014/main" id="{FA5919FE-AE9E-9ECD-58C6-88F3634C48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3890" y="2939046"/>
            <a:ext cx="9105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2020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99" name="TextBox 57">
            <a:extLst>
              <a:ext uri="{FF2B5EF4-FFF2-40B4-BE49-F238E27FC236}">
                <a16:creationId xmlns:a16="http://schemas.microsoft.com/office/drawing/2014/main" id="{F6FA3054-900C-8C4E-E513-D36929FC335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4741" y="3439290"/>
            <a:ext cx="1828800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Leadership team grows and additional equity partners invest to support ongoing growth. Five mergers join, including first international and additional structural. ​</a:t>
            </a:r>
          </a:p>
        </p:txBody>
      </p:sp>
      <p:sp>
        <p:nvSpPr>
          <p:cNvPr id="96" name="TextBox 151">
            <a:extLst>
              <a:ext uri="{FF2B5EF4-FFF2-40B4-BE49-F238E27FC236}">
                <a16:creationId xmlns:a16="http://schemas.microsoft.com/office/drawing/2014/main" id="{1F81B0C7-52E2-4F04-EF32-BD62F23733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82820" y="3460157"/>
            <a:ext cx="18287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1440" rIns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r>
              <a:rPr lang="en-US" altLang="en-US" sz="1100" dirty="0">
                <a:solidFill>
                  <a:schemeClr val="tx2"/>
                </a:solidFill>
                <a:latin typeface="+mn-lt"/>
              </a:rPr>
              <a:t>Two mergers further expand geographic reach and commissioning service.​</a:t>
            </a:r>
            <a:endParaRPr lang="ru-RU" altLang="en-US" sz="1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97" name="Rectangle 30">
            <a:extLst>
              <a:ext uri="{FF2B5EF4-FFF2-40B4-BE49-F238E27FC236}">
                <a16:creationId xmlns:a16="http://schemas.microsoft.com/office/drawing/2014/main" id="{8690CCCB-D122-0295-F0EF-252094763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41967" y="2958683"/>
            <a:ext cx="91050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72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ru-RU" sz="3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2015</a:t>
            </a:r>
            <a:endParaRPr lang="ru-RU" altLang="ru-RU" sz="3200" b="1" kern="1200" dirty="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95" name="Straight Arrow Connector 48">
            <a:extLst>
              <a:ext uri="{FF2B5EF4-FFF2-40B4-BE49-F238E27FC236}">
                <a16:creationId xmlns:a16="http://schemas.microsoft.com/office/drawing/2014/main" id="{89D4B1C3-CB9E-612B-4532-82A3D87DB106}"/>
              </a:ext>
            </a:extLst>
          </p:cNvPr>
          <p:cNvCxnSpPr>
            <a:cxnSpLocks/>
          </p:cNvCxnSpPr>
          <p:nvPr userDrawn="1"/>
        </p:nvCxnSpPr>
        <p:spPr>
          <a:xfrm>
            <a:off x="570045" y="3439009"/>
            <a:ext cx="10621830" cy="0"/>
          </a:xfrm>
          <a:prstGeom prst="straightConnector1">
            <a:avLst/>
          </a:prstGeom>
          <a:ln>
            <a:solidFill>
              <a:schemeClr val="accent1"/>
            </a:solidFill>
            <a:headEnd type="triangle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55">
            <a:extLst>
              <a:ext uri="{FF2B5EF4-FFF2-40B4-BE49-F238E27FC236}">
                <a16:creationId xmlns:a16="http://schemas.microsoft.com/office/drawing/2014/main" id="{6503BF0E-84F6-4EBC-0FBC-4FBBF28A64A5}"/>
              </a:ext>
            </a:extLst>
          </p:cNvPr>
          <p:cNvSpPr/>
          <p:nvPr userDrawn="1"/>
        </p:nvSpPr>
        <p:spPr>
          <a:xfrm>
            <a:off x="9608541" y="4783007"/>
            <a:ext cx="2173884" cy="17932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r>
              <a:rPr lang="en-US" sz="1400" dirty="0">
                <a:solidFill>
                  <a:schemeClr val="tx2"/>
                </a:solidFill>
              </a:rPr>
              <a:t>Our future promises </a:t>
            </a:r>
            <a:r>
              <a:rPr lang="en-US" sz="1400" b="1" dirty="0">
                <a:solidFill>
                  <a:schemeClr val="tx2"/>
                </a:solidFill>
                <a:latin typeface="+mj-lt"/>
              </a:rPr>
              <a:t>continued growth</a:t>
            </a:r>
            <a:r>
              <a:rPr lang="en-US" sz="1400" dirty="0">
                <a:solidFill>
                  <a:schemeClr val="tx2"/>
                </a:solidFill>
              </a:rPr>
              <a:t>, to fulfill our mission of </a:t>
            </a:r>
            <a:r>
              <a:rPr lang="en-US" sz="1400" b="1" dirty="0">
                <a:solidFill>
                  <a:schemeClr val="tx2"/>
                </a:solidFill>
                <a:latin typeface="+mj-lt"/>
              </a:rPr>
              <a:t>advancing the human experience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E7285C7-487C-95E5-8AEA-8FDBA8D90D4B}"/>
              </a:ext>
            </a:extLst>
          </p:cNvPr>
          <p:cNvSpPr txBox="1"/>
          <p:nvPr userDrawn="1"/>
        </p:nvSpPr>
        <p:spPr>
          <a:xfrm>
            <a:off x="344381" y="763644"/>
            <a:ext cx="1128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COMPANY TIMELINE </a:t>
            </a:r>
            <a:endParaRPr lang="es-MX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378C57-38BA-329E-A936-696BBC2A9A48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F1917CED-22CF-3941-093F-88029F8AB327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14ADABA-70C5-472D-313F-6F6AFAB4E4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988B7DF8-8482-8512-EAA7-CD444AD3BFC9}"/>
              </a:ext>
            </a:extLst>
          </p:cNvPr>
          <p:cNvSpPr/>
          <p:nvPr userDrawn="1"/>
        </p:nvSpPr>
        <p:spPr>
          <a:xfrm rot="13500000">
            <a:off x="484528" y="1598524"/>
            <a:ext cx="107150" cy="1071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134">
            <a:extLst>
              <a:ext uri="{FF2B5EF4-FFF2-40B4-BE49-F238E27FC236}">
                <a16:creationId xmlns:a16="http://schemas.microsoft.com/office/drawing/2014/main" id="{8F76127F-B356-6669-DDFE-25F34CAE8885}"/>
              </a:ext>
            </a:extLst>
          </p:cNvPr>
          <p:cNvSpPr/>
          <p:nvPr userDrawn="1"/>
        </p:nvSpPr>
        <p:spPr>
          <a:xfrm flipH="1">
            <a:off x="185615" y="3429884"/>
            <a:ext cx="1237056" cy="1793281"/>
          </a:xfrm>
          <a:prstGeom prst="arc">
            <a:avLst>
              <a:gd name="adj1" fmla="val 17753140"/>
              <a:gd name="adj2" fmla="val 5547157"/>
            </a:avLst>
          </a:prstGeom>
          <a:ln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57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g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5FC4E0-9358-FAA2-B7DA-AD31A266D928}"/>
              </a:ext>
            </a:extLst>
          </p:cNvPr>
          <p:cNvSpPr/>
          <p:nvPr userDrawn="1"/>
        </p:nvSpPr>
        <p:spPr>
          <a:xfrm>
            <a:off x="8724277" y="0"/>
            <a:ext cx="3464726" cy="2406014"/>
          </a:xfrm>
          <a:custGeom>
            <a:avLst/>
            <a:gdLst>
              <a:gd name="connsiteX0" fmla="*/ 2406015 w 3464726"/>
              <a:gd name="connsiteY0" fmla="*/ 0 h 2406014"/>
              <a:gd name="connsiteX1" fmla="*/ 3464726 w 3464726"/>
              <a:gd name="connsiteY1" fmla="*/ 0 h 2406014"/>
              <a:gd name="connsiteX2" fmla="*/ 3464726 w 3464726"/>
              <a:gd name="connsiteY2" fmla="*/ 2406014 h 2406014"/>
              <a:gd name="connsiteX3" fmla="*/ 2406015 w 3464726"/>
              <a:gd name="connsiteY3" fmla="*/ 2406014 h 2406014"/>
              <a:gd name="connsiteX4" fmla="*/ 2406014 w 3464726"/>
              <a:gd name="connsiteY4" fmla="*/ 0 h 2406014"/>
              <a:gd name="connsiteX5" fmla="*/ 2406014 w 3464726"/>
              <a:gd name="connsiteY5" fmla="*/ 2406014 h 2406014"/>
              <a:gd name="connsiteX6" fmla="*/ 0 w 3464726"/>
              <a:gd name="connsiteY6" fmla="*/ 2406014 h 240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64726" h="2406014">
                <a:moveTo>
                  <a:pt x="2406015" y="0"/>
                </a:moveTo>
                <a:lnTo>
                  <a:pt x="3464726" y="0"/>
                </a:lnTo>
                <a:lnTo>
                  <a:pt x="3464726" y="2406014"/>
                </a:lnTo>
                <a:lnTo>
                  <a:pt x="2406015" y="2406014"/>
                </a:lnTo>
                <a:close/>
                <a:moveTo>
                  <a:pt x="2406014" y="0"/>
                </a:moveTo>
                <a:lnTo>
                  <a:pt x="2406014" y="2406014"/>
                </a:lnTo>
                <a:lnTo>
                  <a:pt x="0" y="240601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97EA2-A613-45E5-BF28-8CD64F6DCE0C}"/>
              </a:ext>
            </a:extLst>
          </p:cNvPr>
          <p:cNvSpPr/>
          <p:nvPr userDrawn="1"/>
        </p:nvSpPr>
        <p:spPr>
          <a:xfrm>
            <a:off x="-5998" y="2001128"/>
            <a:ext cx="12197998" cy="48800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FC13BE5-817C-6EAB-1781-C4D79FA180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79" y="634436"/>
            <a:ext cx="6585591" cy="2730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285750">
              <a:lnSpc>
                <a:spcPts val="2667"/>
              </a:lnSpc>
              <a:spcBef>
                <a:spcPts val="0"/>
              </a:spcBef>
              <a:buNone/>
              <a:defRPr sz="20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r>
              <a:rPr lang="en-US" dirty="0"/>
              <a:t>Subtitle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71A91B5-4F58-9FDC-C0FB-47ECF10DB6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830" y="1055441"/>
            <a:ext cx="8677061" cy="5881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4900"/>
              </a:lnSpc>
              <a:spcBef>
                <a:spcPts val="0"/>
              </a:spcBef>
              <a:buNone/>
              <a:defRPr sz="45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352F92-783D-4198-B498-FD03707F3BA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0" y="2053120"/>
            <a:ext cx="3246120" cy="4828032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7CE33825-86E2-4B0A-9C12-11926C7791A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979460" y="2053120"/>
            <a:ext cx="3209544" cy="482803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35AE7CE1-BB5D-4024-9389-4CF6CC72A1B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3287294" y="2053120"/>
            <a:ext cx="5650992" cy="482803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ts val="3700"/>
              </a:lnSpc>
              <a:spcBef>
                <a:spcPts val="18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3" name="SmartArt Placeholder 10">
            <a:extLst>
              <a:ext uri="{FF2B5EF4-FFF2-40B4-BE49-F238E27FC236}">
                <a16:creationId xmlns:a16="http://schemas.microsoft.com/office/drawing/2014/main" id="{86E56CC1-2D77-3D43-B3D3-5E27833E99C3}"/>
              </a:ext>
            </a:extLst>
          </p:cNvPr>
          <p:cNvSpPr>
            <a:spLocks noGrp="1"/>
          </p:cNvSpPr>
          <p:nvPr>
            <p:ph type="dgm" sz="quarter" idx="67" hasCustomPrompt="1"/>
          </p:nvPr>
        </p:nvSpPr>
        <p:spPr>
          <a:xfrm>
            <a:off x="643830" y="685420"/>
            <a:ext cx="223778" cy="216997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74115-7980-83C8-806D-8321FB2C16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08341" y="1076065"/>
            <a:ext cx="1427419" cy="49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32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ger Welco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FB8D94-CFDC-2766-4E9D-850D2D7E5A51}"/>
              </a:ext>
            </a:extLst>
          </p:cNvPr>
          <p:cNvSpPr/>
          <p:nvPr userDrawn="1"/>
        </p:nvSpPr>
        <p:spPr>
          <a:xfrm>
            <a:off x="-32084" y="5702299"/>
            <a:ext cx="12224084" cy="1155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627C752-C998-40FA-BBD4-EA94BF22B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877" y="346076"/>
            <a:ext cx="2572250" cy="596899"/>
          </a:xfrm>
          <a:prstGeom prst="rect">
            <a:avLst/>
          </a:prstGeom>
        </p:spPr>
        <p:txBody>
          <a:bodyPr vert="horz" lIns="0" tIns="45720" rIns="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Welcome</a:t>
            </a:r>
            <a:br>
              <a:rPr lang="en-US" dirty="0"/>
            </a:br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4502682-BFFD-4BE9-97AC-AED9D37F7C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5600" y="1"/>
            <a:ext cx="5486401" cy="165735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D78E2B04-D39A-E077-2D90-84E18F9F0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81138" y="346076"/>
            <a:ext cx="2005264" cy="59689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65C65F07-7A6E-E441-755B-A3A39CAC0D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875" y="2598822"/>
            <a:ext cx="3560763" cy="2855829"/>
          </a:xfrm>
        </p:spPr>
        <p:txBody>
          <a:bodyPr/>
          <a:lstStyle>
            <a:lvl1pPr marL="342900" indent="-342900">
              <a:buFont typeface="Wingdings 3" panose="05040102010807070707" pitchFamily="18" charset="2"/>
              <a:buChar char=""/>
              <a:defRPr sz="2200"/>
            </a:lvl1pPr>
          </a:lstStyle>
          <a:p>
            <a:pPr lvl="0"/>
            <a:r>
              <a:rPr lang="es-MX" dirty="0"/>
              <a:t>Text</a:t>
            </a:r>
          </a:p>
          <a:p>
            <a:pPr lvl="0"/>
            <a:endParaRPr lang="es-MX" dirty="0"/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15E8BE2F-744F-5F22-8549-67E28C5C38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875" y="2069432"/>
            <a:ext cx="3560763" cy="529390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TITLE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CA45777F-26E2-3486-8C17-7ED7A6A01C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5618" y="2598822"/>
            <a:ext cx="3560763" cy="2855829"/>
          </a:xfrm>
        </p:spPr>
        <p:txBody>
          <a:bodyPr/>
          <a:lstStyle>
            <a:lvl1pPr marL="342900" indent="-342900">
              <a:defRPr sz="2200"/>
            </a:lvl1pPr>
          </a:lstStyle>
          <a:p>
            <a:pPr lvl="0"/>
            <a:r>
              <a:rPr lang="es-MX" dirty="0"/>
              <a:t>Text</a:t>
            </a:r>
          </a:p>
          <a:p>
            <a:pPr lvl="0"/>
            <a:endParaRPr lang="es-MX" dirty="0"/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3B8780CD-6A03-9BC9-94B4-B23675BF46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5618" y="2069432"/>
            <a:ext cx="3560763" cy="529390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TITLE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255171BA-C411-7BC6-1CA7-3DA2769A52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07362" y="2598822"/>
            <a:ext cx="3560763" cy="2855829"/>
          </a:xfrm>
        </p:spPr>
        <p:txBody>
          <a:bodyPr/>
          <a:lstStyle>
            <a:lvl1pPr marL="342900" indent="-342900">
              <a:defRPr sz="2200"/>
            </a:lvl1pPr>
          </a:lstStyle>
          <a:p>
            <a:pPr lvl="0"/>
            <a:r>
              <a:rPr lang="es-MX" dirty="0"/>
              <a:t>Text</a:t>
            </a:r>
          </a:p>
          <a:p>
            <a:pPr lvl="0"/>
            <a:endParaRPr lang="es-MX" dirty="0"/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43A132A3-976D-36DD-D1A6-E17EA43E8A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07362" y="2069432"/>
            <a:ext cx="3560763" cy="529390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TITLE</a:t>
            </a:r>
          </a:p>
          <a:p>
            <a:pPr lvl="0"/>
            <a:endParaRPr lang="es-MX" dirty="0"/>
          </a:p>
        </p:txBody>
      </p:sp>
      <p:sp>
        <p:nvSpPr>
          <p:cNvPr id="25" name="Marcador de texto 14">
            <a:extLst>
              <a:ext uri="{FF2B5EF4-FFF2-40B4-BE49-F238E27FC236}">
                <a16:creationId xmlns:a16="http://schemas.microsoft.com/office/drawing/2014/main" id="{E4808F20-636C-D583-8123-146E6928BA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3875" y="1058779"/>
            <a:ext cx="899483" cy="3445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s-MX" dirty="0"/>
              <a:t>Date </a:t>
            </a:r>
          </a:p>
          <a:p>
            <a:pPr lvl="0"/>
            <a:endParaRPr lang="es-MX" dirty="0"/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88890B3C-0414-7399-2313-007CDA2E5E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3875" y="5855369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s-MX" dirty="0"/>
              <a:t>Full Name,  Position</a:t>
            </a:r>
          </a:p>
          <a:p>
            <a:pPr lvl="0"/>
            <a:endParaRPr lang="es-MX" dirty="0"/>
          </a:p>
        </p:txBody>
      </p:sp>
      <p:sp>
        <p:nvSpPr>
          <p:cNvPr id="27" name="Marcador de texto 14">
            <a:extLst>
              <a:ext uri="{FF2B5EF4-FFF2-40B4-BE49-F238E27FC236}">
                <a16:creationId xmlns:a16="http://schemas.microsoft.com/office/drawing/2014/main" id="{819A95AA-3C68-6EE3-2368-0C55982F6A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3875" y="6336632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s-MX" dirty="0"/>
              <a:t>Full Name,  Position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8F23229F-1A1A-AD93-A33A-BC4AD3716C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51033" y="5855369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MX" dirty="0"/>
              <a:t>email</a:t>
            </a:r>
          </a:p>
          <a:p>
            <a:pPr lvl="0"/>
            <a:endParaRPr lang="es-MX" dirty="0"/>
          </a:p>
        </p:txBody>
      </p:sp>
      <p:sp>
        <p:nvSpPr>
          <p:cNvPr id="29" name="Marcador de texto 14">
            <a:extLst>
              <a:ext uri="{FF2B5EF4-FFF2-40B4-BE49-F238E27FC236}">
                <a16:creationId xmlns:a16="http://schemas.microsoft.com/office/drawing/2014/main" id="{502E5A81-2EF5-B261-0186-D4CC45BEE1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51033" y="6336632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MX" dirty="0"/>
              <a:t>email</a:t>
            </a:r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86FFEE15-4D02-D38C-91F8-D325E4FF73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9244" y="5855369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/>
              <a:t>Full Name,  Position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E6854B4A-76BD-FB5F-E52F-1156E53B75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9244" y="6336632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s-MX" dirty="0"/>
              <a:t>Full Name,  Position</a:t>
            </a:r>
          </a:p>
        </p:txBody>
      </p:sp>
      <p:sp>
        <p:nvSpPr>
          <p:cNvPr id="32" name="Marcador de texto 14">
            <a:extLst>
              <a:ext uri="{FF2B5EF4-FFF2-40B4-BE49-F238E27FC236}">
                <a16:creationId xmlns:a16="http://schemas.microsoft.com/office/drawing/2014/main" id="{24589EB0-F2CD-B3E5-A6BB-620F9373346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06402" y="5855369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MX" dirty="0"/>
              <a:t>email</a:t>
            </a:r>
          </a:p>
          <a:p>
            <a:pPr lvl="0"/>
            <a:endParaRPr lang="es-MX" dirty="0"/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23112A62-510F-D8C2-E285-1FBAA31F7F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6402" y="6336632"/>
            <a:ext cx="2572252" cy="352926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MX" dirty="0"/>
              <a:t>email</a:t>
            </a:r>
          </a:p>
        </p:txBody>
      </p:sp>
      <p:sp>
        <p:nvSpPr>
          <p:cNvPr id="34" name="Marcador de texto 14">
            <a:extLst>
              <a:ext uri="{FF2B5EF4-FFF2-40B4-BE49-F238E27FC236}">
                <a16:creationId xmlns:a16="http://schemas.microsoft.com/office/drawing/2014/main" id="{07D30AC6-D4A3-40D2-08DC-0D8ED67E40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3875" y="1459832"/>
            <a:ext cx="4962526" cy="3445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Locations separated by commas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EC8A8374-F10C-11AA-3EDA-B81CBED3E1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35401" y="1058779"/>
            <a:ext cx="5486400" cy="344570"/>
          </a:xfrm>
        </p:spPr>
        <p:txBody>
          <a:bodyPr/>
          <a:lstStyle>
            <a:lvl1pPr marL="0" indent="0"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1056673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ger Welco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1F68B8-3BDA-2F11-746C-6A74A721B16B}"/>
              </a:ext>
            </a:extLst>
          </p:cNvPr>
          <p:cNvSpPr/>
          <p:nvPr userDrawn="1"/>
        </p:nvSpPr>
        <p:spPr>
          <a:xfrm>
            <a:off x="5791198" y="2408879"/>
            <a:ext cx="6400802" cy="3372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BA3D27A1-622F-71B2-A33E-5A7899BB8A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0374" y="562887"/>
            <a:ext cx="2295124" cy="431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Söhne Halbfett" panose="020B0703030202060203" pitchFamily="34" charset="0"/>
              </a:rPr>
              <a:t>Welcome,</a:t>
            </a:r>
            <a:endParaRPr lang="en-US" dirty="0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805F1C7-F931-6FC9-F5E3-BC3C32BF09D9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8912221" y="399095"/>
            <a:ext cx="2755903" cy="75791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DEB0EE-9DFD-1A0C-0274-7A262E71C9D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10338" y="3181350"/>
            <a:ext cx="2265362" cy="2381250"/>
          </a:xfrm>
        </p:spPr>
        <p:txBody>
          <a:bodyPr/>
          <a:lstStyle>
            <a:lvl1pPr marL="228600" indent="-228600">
              <a:defRPr sz="1800"/>
            </a:lvl1pPr>
          </a:lstStyle>
          <a:p>
            <a:pPr lvl="0"/>
            <a:r>
              <a:rPr lang="en-US" dirty="0"/>
              <a:t>Type services one at a time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FDE1E61-9473-5A88-4B90-78BB5EB57C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358313" y="3181350"/>
            <a:ext cx="2265362" cy="2381250"/>
          </a:xfrm>
        </p:spPr>
        <p:txBody>
          <a:bodyPr/>
          <a:lstStyle>
            <a:lvl1pPr marL="228600" indent="-228600">
              <a:defRPr sz="1800"/>
            </a:lvl1pPr>
          </a:lstStyle>
          <a:p>
            <a:pPr lvl="0"/>
            <a:r>
              <a:rPr lang="en-US" dirty="0"/>
              <a:t>Type services one at a time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08D323-2F6C-BC25-E9AC-16A8FABF393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10338" y="2642986"/>
            <a:ext cx="1543050" cy="4318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MARKETS</a:t>
            </a: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93EF1D6A-3481-5652-DD99-A10CF9CCB7A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0"/>
            <a:ext cx="59436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CBCBF7B3-353E-663B-B54F-3634666BC1A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48788" y="2642986"/>
            <a:ext cx="1543050" cy="4318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Services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81ACA9B-673C-BB62-9151-08BB237C22E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77000" y="1332287"/>
            <a:ext cx="2074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Month 20YY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E1AF5F67-450F-9555-E064-E06A69009E4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477000" y="1645024"/>
            <a:ext cx="2074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Business unit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5DD8156A-63C8-9FE7-D2C9-A5255B64FA2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77000" y="1940299"/>
            <a:ext cx="2074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## of members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905A4CEC-3B4D-84F8-C8A6-36313934F9E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182100" y="1332287"/>
            <a:ext cx="2074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Office location, ST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ECC8EA42-8DEC-2F9D-E9AE-542380A6AD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82100" y="1645024"/>
            <a:ext cx="2074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Office location, ST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3E7283DD-8A98-7EDE-0F5C-CD11329EF19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82100" y="1940299"/>
            <a:ext cx="2074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Office location, ST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70CC9E71-0965-7347-41DD-C55F542DFFCB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510338" y="5990012"/>
            <a:ext cx="2671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F2CF751F-5A57-C33F-E2FD-1F99EDF076B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286875" y="5990012"/>
            <a:ext cx="2133600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Emailaddress.com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8941F395-3005-C743-461F-477D8FEC9A4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510338" y="6294812"/>
            <a:ext cx="2671762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FB02B406-DF27-4262-B669-1E7C0A5917D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286875" y="6294812"/>
            <a:ext cx="2133600" cy="33178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Emailaddress.com</a:t>
            </a:r>
          </a:p>
        </p:txBody>
      </p:sp>
    </p:spTree>
    <p:extLst>
      <p:ext uri="{BB962C8B-B14F-4D97-AF65-F5344CB8AC3E}">
        <p14:creationId xmlns:p14="http://schemas.microsoft.com/office/powerpoint/2010/main" val="1458544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Recognition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C9CD33-02F5-A996-3472-54889102D3EB}"/>
              </a:ext>
            </a:extLst>
          </p:cNvPr>
          <p:cNvSpPr/>
          <p:nvPr userDrawn="1"/>
        </p:nvSpPr>
        <p:spPr>
          <a:xfrm>
            <a:off x="-3177" y="1104194"/>
            <a:ext cx="5154614" cy="46580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F9ECCC5-2C39-1A60-060B-20E076071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415" y="2587595"/>
            <a:ext cx="3323431" cy="16828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Söhne Halbfett" panose="020B0703030202060203" pitchFamily="34" charset="0"/>
              </a:rPr>
              <a:t>Recognizing Leadership </a:t>
            </a:r>
            <a:br>
              <a:rPr lang="en-US" dirty="0">
                <a:latin typeface="Söhne Halbfett" panose="020B0703030202060203" pitchFamily="34" charset="0"/>
              </a:rPr>
            </a:br>
            <a:r>
              <a:rPr lang="en-US" dirty="0">
                <a:latin typeface="Söhne Halbfett" panose="020B0703030202060203" pitchFamily="34" charset="0"/>
              </a:rPr>
              <a:t>in Action</a:t>
            </a:r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9149869-F819-A0D9-71F0-12131903853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5448300" y="2273300"/>
            <a:ext cx="6426200" cy="3485733"/>
          </a:xfrm>
        </p:spPr>
        <p:txBody>
          <a:bodyPr lIns="0"/>
          <a:lstStyle>
            <a:lvl1pPr>
              <a:defRPr/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Enter text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3116450-AFDC-4359-B74A-7EAD69CC7C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20001" y="1108869"/>
            <a:ext cx="4254499" cy="305863"/>
          </a:xfrm>
        </p:spPr>
        <p:txBody>
          <a:bodyPr lIns="91440" t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br>
              <a:rPr lang="en-US" sz="2000" b="0" dirty="0">
                <a:solidFill>
                  <a:schemeClr val="tx2"/>
                </a:solidFill>
                <a:latin typeface="Söhne Leicht" panose="020B0303030202060203" pitchFamily="34" charset="0"/>
              </a:rPr>
            </a:b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E573B7-C6FD-902F-B888-828AD86123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49679" y="1104194"/>
            <a:ext cx="2170321" cy="376935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000" cap="all" baseline="0" dirty="0">
                <a:latin typeface="Söhne Kräftig" panose="020B0603030202060203" pitchFamily="34" charset="0"/>
              </a:rPr>
              <a:t>Token Recipient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D4CAD6E-2FF2-F46C-7830-F67B446916D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49680" y="1533477"/>
            <a:ext cx="1813134" cy="376935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000" cap="all" baseline="0" dirty="0">
                <a:latin typeface="Söhne Kräftig" panose="020B0603030202060203" pitchFamily="34" charset="0"/>
              </a:rPr>
              <a:t>Submitted by</a:t>
            </a:r>
            <a:endParaRPr lang="en-US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F0DE285-C3E1-980D-7C3D-3867C7B592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66545" y="1533389"/>
            <a:ext cx="4682201" cy="305863"/>
          </a:xfrm>
        </p:spPr>
        <p:txBody>
          <a:bodyPr lIns="91440" t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br>
              <a:rPr lang="en-US" sz="2000" b="0" dirty="0">
                <a:solidFill>
                  <a:schemeClr val="tx2"/>
                </a:solidFill>
                <a:latin typeface="Söhne Leicht" panose="020B0303030202060203" pitchFamily="34" charset="0"/>
              </a:rPr>
            </a:br>
            <a:endParaRPr lang="en-US" dirty="0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F9ED313-4BC4-83B0-F4DA-2641459EBE30}"/>
              </a:ext>
            </a:extLst>
          </p:cNvPr>
          <p:cNvSpPr/>
          <p:nvPr userDrawn="1"/>
        </p:nvSpPr>
        <p:spPr>
          <a:xfrm rot="16200000">
            <a:off x="4100483" y="4702851"/>
            <a:ext cx="1050954" cy="105095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9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Recognition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AB05E-44CA-8BEC-9166-DEDFECBCAF84}"/>
              </a:ext>
            </a:extLst>
          </p:cNvPr>
          <p:cNvSpPr/>
          <p:nvPr userDrawn="1"/>
        </p:nvSpPr>
        <p:spPr>
          <a:xfrm>
            <a:off x="7034211" y="1104194"/>
            <a:ext cx="5154614" cy="46580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F8577092-A7A6-63DA-A3DA-623A9D2F5142}"/>
              </a:ext>
            </a:extLst>
          </p:cNvPr>
          <p:cNvSpPr/>
          <p:nvPr userDrawn="1"/>
        </p:nvSpPr>
        <p:spPr>
          <a:xfrm rot="5400000">
            <a:off x="7034211" y="1104194"/>
            <a:ext cx="1050954" cy="105095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F9ECCC5-2C39-1A60-060B-20E076071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19653" y="2587595"/>
            <a:ext cx="3194448" cy="16828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Söhne Halbfett" panose="020B0703030202060203" pitchFamily="34" charset="0"/>
              </a:rPr>
              <a:t>Recognizing Leadership </a:t>
            </a:r>
            <a:br>
              <a:rPr lang="en-US" dirty="0">
                <a:latin typeface="Söhne Halbfett" panose="020B0703030202060203" pitchFamily="34" charset="0"/>
              </a:rPr>
            </a:br>
            <a:r>
              <a:rPr lang="en-US" dirty="0">
                <a:latin typeface="Söhne Halbfett" panose="020B0703030202060203" pitchFamily="34" charset="0"/>
              </a:rPr>
              <a:t>in Action</a:t>
            </a:r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9149869-F819-A0D9-71F0-12131903853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330200" y="2273299"/>
            <a:ext cx="6426200" cy="3485733"/>
          </a:xfrm>
        </p:spPr>
        <p:txBody>
          <a:bodyPr lIns="0"/>
          <a:lstStyle>
            <a:lvl1pPr>
              <a:defRPr/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Enter text here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3EE0BB-4C75-DB5F-CF5F-6E83FE4C12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00522" y="1108869"/>
            <a:ext cx="4255878" cy="305863"/>
          </a:xfrm>
        </p:spPr>
        <p:txBody>
          <a:bodyPr lIns="91440" t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br>
              <a:rPr lang="en-US" sz="2000" b="0" dirty="0">
                <a:solidFill>
                  <a:schemeClr val="tx2"/>
                </a:solidFill>
                <a:latin typeface="Söhne Leicht" panose="020B0303030202060203" pitchFamily="34" charset="0"/>
              </a:rPr>
            </a:b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73F8F5A-BB51-E558-86CD-DD8FC79D8C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0200" y="1104194"/>
            <a:ext cx="2170321" cy="376935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000" cap="all" baseline="0" dirty="0">
                <a:latin typeface="Söhne Kräftig" panose="020B0603030202060203" pitchFamily="34" charset="0"/>
              </a:rPr>
              <a:t>Token Recipient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1351893-C054-6605-65F4-A29E6362E1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0201" y="1533477"/>
            <a:ext cx="1813134" cy="376935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000" cap="all" baseline="0" dirty="0">
                <a:latin typeface="Söhne Kräftig" panose="020B0603030202060203" pitchFamily="34" charset="0"/>
              </a:rPr>
              <a:t>Submitted by</a:t>
            </a:r>
            <a:endParaRPr lang="en-US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E7A7E22-DF7E-5C3B-CC00-82846EE2DC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47066" y="1533389"/>
            <a:ext cx="4609334" cy="305863"/>
          </a:xfrm>
        </p:spPr>
        <p:txBody>
          <a:bodyPr lIns="91440" t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br>
              <a:rPr lang="en-US" sz="2000" b="0" dirty="0">
                <a:solidFill>
                  <a:schemeClr val="tx2"/>
                </a:solidFill>
                <a:latin typeface="Söhne Leicht" panose="020B0303030202060203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85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R Dashbo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11">
            <a:extLst>
              <a:ext uri="{FF2B5EF4-FFF2-40B4-BE49-F238E27FC236}">
                <a16:creationId xmlns:a16="http://schemas.microsoft.com/office/drawing/2014/main" id="{E972142D-621E-0DF5-A59D-C2C794820FF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10890126"/>
              </p:ext>
            </p:extLst>
          </p:nvPr>
        </p:nvGraphicFramePr>
        <p:xfrm>
          <a:off x="467677" y="4044325"/>
          <a:ext cx="11213464" cy="2783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190038446"/>
                    </a:ext>
                  </a:extLst>
                </a:gridCol>
                <a:gridCol w="348932">
                  <a:extLst>
                    <a:ext uri="{9D8B030D-6E8A-4147-A177-3AD203B41FA5}">
                      <a16:colId xmlns:a16="http://schemas.microsoft.com/office/drawing/2014/main" val="4081208705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1070012561"/>
                    </a:ext>
                  </a:extLst>
                </a:gridCol>
                <a:gridCol w="348932">
                  <a:extLst>
                    <a:ext uri="{9D8B030D-6E8A-4147-A177-3AD203B41FA5}">
                      <a16:colId xmlns:a16="http://schemas.microsoft.com/office/drawing/2014/main" val="2778334659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963785955"/>
                    </a:ext>
                  </a:extLst>
                </a:gridCol>
              </a:tblGrid>
              <a:tr h="272331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rPr>
                        <a:t>HIRE SOURCE – </a:t>
                      </a:r>
                    </a:p>
                  </a:txBody>
                  <a:tcPr marL="45720" marR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                   : 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GLASSDOOR REVIEW – ## Total</a:t>
                      </a:r>
                    </a:p>
                  </a:txBody>
                  <a:tcPr marL="45720" marR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eNPS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                 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8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45720" marR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21783"/>
                  </a:ext>
                </a:extLst>
              </a:tr>
              <a:tr h="2094352">
                <a:tc>
                  <a:txBody>
                    <a:bodyPr/>
                    <a:lstStyle/>
                    <a:p>
                      <a:endParaRPr lang="en-US" sz="1000" b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45720" marR="0" marB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8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0" marB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endParaRPr lang="en-US" sz="800" dirty="0">
                        <a:latin typeface="Arial" panose="020B0604020202020204" pitchFamily="34" charset="0"/>
                      </a:endParaRPr>
                    </a:p>
                    <a:p>
                      <a:r>
                        <a:rPr lang="en-US" sz="10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I would recommend working at  Salas O'Brien to a friend or colleague?</a:t>
                      </a:r>
                    </a:p>
                    <a:p>
                      <a:endParaRPr lang="en-US" sz="800" dirty="0">
                        <a:solidFill>
                          <a:schemeClr val="tx2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91440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Promoters</a:t>
                      </a:r>
                    </a:p>
                    <a:p>
                      <a:pPr marL="91440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Passives</a:t>
                      </a:r>
                    </a:p>
                    <a:p>
                      <a:pPr marL="91440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Detractors</a:t>
                      </a:r>
                    </a:p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45720" marR="0" marB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586090"/>
                  </a:ext>
                </a:extLst>
              </a:tr>
            </a:tbl>
          </a:graphicData>
        </a:graphic>
      </p:graphicFrame>
      <p:pic>
        <p:nvPicPr>
          <p:cNvPr id="3" name="Picture 25">
            <a:extLst>
              <a:ext uri="{FF2B5EF4-FFF2-40B4-BE49-F238E27FC236}">
                <a16:creationId xmlns:a16="http://schemas.microsoft.com/office/drawing/2014/main" id="{D42617DE-3E7A-762C-0EC4-4C8DC9C7FD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5126"/>
          <a:stretch/>
        </p:blipFill>
        <p:spPr>
          <a:xfrm>
            <a:off x="4505359" y="4468257"/>
            <a:ext cx="4230445" cy="2136637"/>
          </a:xfrm>
          <a:prstGeom prst="rect">
            <a:avLst/>
          </a:prstGeom>
        </p:spPr>
      </p:pic>
      <p:sp>
        <p:nvSpPr>
          <p:cNvPr id="5" name="Title 7">
            <a:extLst>
              <a:ext uri="{FF2B5EF4-FFF2-40B4-BE49-F238E27FC236}">
                <a16:creationId xmlns:a16="http://schemas.microsoft.com/office/drawing/2014/main" id="{9FE7D43D-E47E-3396-9241-91DE97921A36}"/>
              </a:ext>
            </a:extLst>
          </p:cNvPr>
          <p:cNvSpPr txBox="1">
            <a:spLocks/>
          </p:cNvSpPr>
          <p:nvPr userDrawn="1"/>
        </p:nvSpPr>
        <p:spPr>
          <a:xfrm>
            <a:off x="514350" y="365126"/>
            <a:ext cx="11289030" cy="635000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öhne Halbfett" panose="020B07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HR Dashboard: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A456351C-F9B6-77CE-575F-E9E3A9FD72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25926173"/>
              </p:ext>
            </p:extLst>
          </p:nvPr>
        </p:nvGraphicFramePr>
        <p:xfrm>
          <a:off x="406440" y="1126140"/>
          <a:ext cx="11256699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190038446"/>
                    </a:ext>
                  </a:extLst>
                </a:gridCol>
                <a:gridCol w="137160">
                  <a:extLst>
                    <a:ext uri="{9D8B030D-6E8A-4147-A177-3AD203B41FA5}">
                      <a16:colId xmlns:a16="http://schemas.microsoft.com/office/drawing/2014/main" val="4081208705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1070012561"/>
                    </a:ext>
                  </a:extLst>
                </a:gridCol>
                <a:gridCol w="539931">
                  <a:extLst>
                    <a:ext uri="{9D8B030D-6E8A-4147-A177-3AD203B41FA5}">
                      <a16:colId xmlns:a16="http://schemas.microsoft.com/office/drawing/2014/main" val="2427507454"/>
                    </a:ext>
                  </a:extLst>
                </a:gridCol>
                <a:gridCol w="137160">
                  <a:extLst>
                    <a:ext uri="{9D8B030D-6E8A-4147-A177-3AD203B41FA5}">
                      <a16:colId xmlns:a16="http://schemas.microsoft.com/office/drawing/2014/main" val="277833465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96378595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6093787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7508555"/>
                    </a:ext>
                  </a:extLst>
                </a:gridCol>
                <a:gridCol w="137160">
                  <a:extLst>
                    <a:ext uri="{9D8B030D-6E8A-4147-A177-3AD203B41FA5}">
                      <a16:colId xmlns:a16="http://schemas.microsoft.com/office/drawing/2014/main" val="230279382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0881965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543233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5979703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rPr>
                        <a:t>OPEN </a:t>
                      </a:r>
                      <a:r>
                        <a:rPr lang="en-US" sz="1000" b="1" dirty="0">
                          <a:solidFill>
                            <a:srgbClr val="000086"/>
                          </a:solidFill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HIRES</a:t>
                      </a: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TIME TO FILL</a:t>
                      </a:r>
                    </a:p>
                    <a:p>
                      <a:endParaRPr lang="en-US" sz="800" b="1" dirty="0">
                        <a:latin typeface="Arial" panose="020B0604020202020204" pitchFamily="34" charset="0"/>
                      </a:endParaRP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HEADCOUNT</a:t>
                      </a: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RETENTION (voluntary)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8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MONTHLY RETENTION, 12-month rolling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8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21783"/>
                  </a:ext>
                </a:extLst>
              </a:tr>
              <a:tr h="598170">
                <a:tc rowSpan="4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2400" b="0" dirty="0">
                        <a:solidFill>
                          <a:schemeClr val="accent1"/>
                        </a:solidFill>
                        <a:latin typeface="Arial" panose="020B0604020202020204" pitchFamily="34" charset="0"/>
                      </a:endParaRPr>
                    </a:p>
                    <a:p>
                      <a:pPr algn="l"/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</a:rPr>
                        <a:t>Critical Open Roles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9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45720" marR="0" marT="137160" marB="0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4"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54864" marB="0" anchor="ctr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MTD</a:t>
                      </a:r>
                    </a:p>
                  </a:txBody>
                  <a:tcPr marL="45720" marR="0" marB="0" anchor="ctr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8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9DE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  Days Avg for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9DE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Days 12-Month </a:t>
                      </a:r>
                      <a:b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Average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9DE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Days Industry Average</a:t>
                      </a:r>
                      <a:b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 Zweig 2021</a:t>
                      </a:r>
                      <a:endParaRPr kumimoji="0" lang="en-US" sz="8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4"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b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YTD Growth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2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(includes interns)</a:t>
                      </a:r>
                    </a:p>
                  </a:txBody>
                  <a:tcPr marL="45720" marR="0" marB="0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4"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Goal: </a:t>
                      </a:r>
                      <a:r>
                        <a:rPr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93%</a:t>
                      </a: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85.6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% AEC Industry Survey</a:t>
                      </a:r>
                      <a:endParaRPr kumimoji="0"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Deltek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2022</a:t>
                      </a:r>
                    </a:p>
                  </a:txBody>
                  <a:tcPr marL="45720" marR="0" marB="0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4"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8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0" marB="0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27087"/>
                  </a:ext>
                </a:extLst>
              </a:tr>
              <a:tr h="598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548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45720" marR="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19423"/>
                  </a:ext>
                </a:extLst>
              </a:tr>
              <a:tr h="598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548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12-Month </a:t>
                      </a:r>
                      <a:r>
                        <a:rPr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Rolling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388086"/>
                  </a:ext>
                </a:extLst>
              </a:tr>
              <a:tr h="598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548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12-Month Rolling</a:t>
                      </a:r>
                    </a:p>
                  </a:txBody>
                  <a:tcPr marL="45720" marR="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389046"/>
                  </a:ext>
                </a:extLst>
              </a:tr>
            </a:tbl>
          </a:graphicData>
        </a:graphic>
      </p:graphicFrame>
      <p:sp>
        <p:nvSpPr>
          <p:cNvPr id="13" name="TextBox 1">
            <a:extLst>
              <a:ext uri="{FF2B5EF4-FFF2-40B4-BE49-F238E27FC236}">
                <a16:creationId xmlns:a16="http://schemas.microsoft.com/office/drawing/2014/main" id="{E7E3F3F1-542F-BA06-B347-2E7B19330E6D}"/>
              </a:ext>
            </a:extLst>
          </p:cNvPr>
          <p:cNvSpPr txBox="1"/>
          <p:nvPr userDrawn="1"/>
        </p:nvSpPr>
        <p:spPr>
          <a:xfrm>
            <a:off x="9090977" y="458476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Goal: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80</a:t>
            </a:r>
          </a:p>
        </p:txBody>
      </p:sp>
      <p:pic>
        <p:nvPicPr>
          <p:cNvPr id="17" name="Picture 21">
            <a:extLst>
              <a:ext uri="{FF2B5EF4-FFF2-40B4-BE49-F238E27FC236}">
                <a16:creationId xmlns:a16="http://schemas.microsoft.com/office/drawing/2014/main" id="{97CF2EE6-342E-1277-6A88-ECEC226C0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844" y="4471164"/>
            <a:ext cx="4230445" cy="2366683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D1DAEB-73EB-0C0A-14A3-E5A3132E42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39" y="1541466"/>
            <a:ext cx="1355685" cy="43497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CC7AF2-8822-8EDA-1D85-120146D12E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3765" y="1541466"/>
            <a:ext cx="898486" cy="43497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50E75DC-FD7F-EDC2-13E7-CBFEE31716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3765" y="2132014"/>
            <a:ext cx="898486" cy="43497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FF8EBDB9-E669-349A-D117-9A6F0A3AC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3765" y="2727327"/>
            <a:ext cx="898486" cy="43497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3C9A9C3-B397-4382-D6B8-037E022FBD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63765" y="3332165"/>
            <a:ext cx="898486" cy="43497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64B6326-B80B-88F6-1A13-7D2C696838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63" y="2160591"/>
            <a:ext cx="1355725" cy="1645920"/>
          </a:xfrm>
        </p:spPr>
        <p:txBody>
          <a:bodyPr/>
          <a:lstStyle>
            <a:lvl1pPr marL="171450" indent="-171450">
              <a:spcBef>
                <a:spcPts val="300"/>
              </a:spcBef>
              <a:buFont typeface="Wingdings 3" panose="05040102010807070707" pitchFamily="18" charset="2"/>
              <a:buChar char="y"/>
              <a:defRPr sz="900"/>
            </a:lvl1pPr>
          </a:lstStyle>
          <a:p>
            <a:pPr lvl="0"/>
            <a:r>
              <a:rPr lang="en-US" sz="900" dirty="0"/>
              <a:t>Position 1</a:t>
            </a:r>
          </a:p>
          <a:p>
            <a:pPr lvl="0"/>
            <a:r>
              <a:rPr lang="en-US" sz="900" dirty="0"/>
              <a:t>Position 2</a:t>
            </a:r>
          </a:p>
          <a:p>
            <a:pPr lvl="0"/>
            <a:r>
              <a:rPr lang="en-US" sz="900" dirty="0"/>
              <a:t>Position 3</a:t>
            </a:r>
            <a:endParaRPr lang="en-US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58469B52-7EDE-EBB1-5A88-B1B54291DE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86151" y="1541466"/>
            <a:ext cx="1452562" cy="43497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0E2A11D-5AF9-AC8B-0FBF-6FF58C5FE2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86151" y="2165354"/>
            <a:ext cx="1452562" cy="43497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2400" dirty="0">
                <a:latin typeface="Söhne Halbfett" panose="020B0703030202060203" pitchFamily="34" charset="0"/>
              </a:rPr>
              <a:t>##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89A0F49-844D-B01C-4534-6E5265D28E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6724" y="1900230"/>
            <a:ext cx="533400" cy="1254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pPr lvl="0"/>
            <a:r>
              <a:rPr lang="en-US" sz="800" dirty="0"/>
              <a:t>Month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A0DEE94-D556-89E8-8473-E00B92BE17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36521" y="356478"/>
            <a:ext cx="3502025" cy="5556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400" dirty="0">
                <a:latin typeface="Söhne Halbfett" panose="020B0703030202060203" pitchFamily="34" charset="0"/>
              </a:rPr>
              <a:t>Month 20YY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271B124-ECB8-1E3E-0851-6B08A51C12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374" y="1568577"/>
            <a:ext cx="1645920" cy="1624487"/>
          </a:xfrm>
          <a:solidFill>
            <a:schemeClr val="accent6"/>
          </a:solidFill>
        </p:spPr>
        <p:txBody>
          <a:bodyPr tIns="0" bIns="91440" anchor="ctr" anchorCtr="0"/>
          <a:lstStyle>
            <a:lvl1pPr marL="0" indent="0" algn="ctr">
              <a:spcBef>
                <a:spcPts val="0"/>
              </a:spcBef>
              <a:buNone/>
              <a:defRPr sz="3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80715F5F-02DF-B14B-9EA4-7CE11F53A9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98332" y="1549681"/>
            <a:ext cx="1640049" cy="822495"/>
          </a:xfrm>
          <a:solidFill>
            <a:schemeClr val="accent6"/>
          </a:solidFill>
        </p:spPr>
        <p:txBody>
          <a:bodyPr tIns="0" bIns="91440" anchor="ctr" anchorCtr="0"/>
          <a:lstStyle>
            <a:lvl1pPr marL="0" indent="0" algn="ctr">
              <a:spcBef>
                <a:spcPts val="0"/>
              </a:spcBef>
              <a:buNone/>
              <a:defRPr sz="3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4E55708-E813-6820-83FC-436E7114F1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8048" y="2098126"/>
            <a:ext cx="1640049" cy="23018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Monthly #/20YY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1A9D9C48-2FE6-38FF-AEC0-85CB1C78F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98048" y="2486675"/>
            <a:ext cx="1640049" cy="709146"/>
          </a:xfrm>
          <a:solidFill>
            <a:schemeClr val="accent6"/>
          </a:solidFill>
        </p:spPr>
        <p:txBody>
          <a:bodyPr tIns="0" bIns="91440" anchor="ctr" anchorCtr="0"/>
          <a:lstStyle>
            <a:lvl1pPr marL="0" indent="0" algn="ctr">
              <a:spcBef>
                <a:spcPts val="0"/>
              </a:spcBef>
              <a:buNone/>
              <a:defRPr sz="3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BD537C2F-6C53-A59F-CBD9-03D0AAA144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8048" y="2926800"/>
            <a:ext cx="1640049" cy="23018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12-month rolling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3DF484-ECA4-3399-0455-E898373DE3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81015" y="3362028"/>
            <a:ext cx="965200" cy="187325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sz="900" dirty="0"/>
              <a:t>##%</a:t>
            </a:r>
            <a:endParaRPr lang="en-US" dirty="0"/>
          </a:p>
        </p:txBody>
      </p:sp>
      <p:graphicFrame>
        <p:nvGraphicFramePr>
          <p:cNvPr id="15" name="Chart 6">
            <a:extLst>
              <a:ext uri="{FF2B5EF4-FFF2-40B4-BE49-F238E27FC236}">
                <a16:creationId xmlns:a16="http://schemas.microsoft.com/office/drawing/2014/main" id="{5C16970D-5BDE-ED0C-D0AE-0DBF36BD662A}"/>
              </a:ext>
              <a:ext uri="{147F2762-F138-4A5C-976F-8EAC2B608ADB}">
                <a16:predDERef xmlns:a16="http://schemas.microsoft.com/office/drawing/2014/main" pred="{8D7AA668-047A-4067-B558-96EAB3CE36E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498829721"/>
              </p:ext>
            </p:extLst>
          </p:nvPr>
        </p:nvGraphicFramePr>
        <p:xfrm>
          <a:off x="8920787" y="1497551"/>
          <a:ext cx="2863810" cy="2333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34BA796-F5CC-F368-2EF5-F8CB19EDB1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68949" y="4541435"/>
            <a:ext cx="657225" cy="322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Increased from ##%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0C871FEF-44D9-99BF-115D-DC6875C883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68949" y="5008161"/>
            <a:ext cx="657225" cy="322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Increased from ##%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C0B051C3-44C6-6EC7-37E9-8FE21546F7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68949" y="5546325"/>
            <a:ext cx="657225" cy="322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Increased from ##%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30272B22-410B-7311-C610-671DF80352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9797" y="6122589"/>
            <a:ext cx="657225" cy="246222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F7789005-1992-0233-E786-8AA84136AC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9797" y="6303563"/>
            <a:ext cx="657225" cy="246222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2BA9A40B-EBAF-674F-9A17-13F3D2D47D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9797" y="6470251"/>
            <a:ext cx="657225" cy="246222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67FDA97-75B5-B5FF-C9A5-38AA4ECF83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502007" y="4045438"/>
            <a:ext cx="822325" cy="2206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Month 20YY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7F6EE22-2318-D611-FA2F-3B1D544DF49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94364" y="4041829"/>
            <a:ext cx="822325" cy="2206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Month 20YY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EFB6A16-96E5-368E-52BC-14222801A4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99359" y="4045438"/>
            <a:ext cx="822325" cy="2206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Month 20YY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E1E596F-5DB2-CFDC-D690-B479CED302B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366865" y="2926800"/>
            <a:ext cx="271232" cy="271232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5193BE4-51DB-2296-D963-EE613C4581A7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366865" y="2100944"/>
            <a:ext cx="271232" cy="271232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759417BE-13B4-F02E-23F3-C233B7019B79}"/>
              </a:ext>
            </a:extLst>
          </p:cNvPr>
          <p:cNvSpPr/>
          <p:nvPr userDrawn="1"/>
        </p:nvSpPr>
        <p:spPr>
          <a:xfrm rot="16200000">
            <a:off x="6399651" y="2740980"/>
            <a:ext cx="457052" cy="457052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50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R Dashboard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76DFFBA7-B1FE-05E3-A7FD-C68789C93345}"/>
              </a:ext>
            </a:extLst>
          </p:cNvPr>
          <p:cNvSpPr txBox="1">
            <a:spLocks/>
          </p:cNvSpPr>
          <p:nvPr userDrawn="1"/>
        </p:nvSpPr>
        <p:spPr>
          <a:xfrm>
            <a:off x="514350" y="365126"/>
            <a:ext cx="11289030" cy="635000"/>
          </a:xfrm>
          <a:prstGeom prst="rect">
            <a:avLst/>
          </a:prstGeom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öhne Halbfett" panose="020B07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HR Dashboard: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CE5E60CE-E7DD-674F-76CC-BD7C1B1EE9E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74847673"/>
              </p:ext>
            </p:extLst>
          </p:nvPr>
        </p:nvGraphicFramePr>
        <p:xfrm>
          <a:off x="514350" y="971275"/>
          <a:ext cx="11142032" cy="3942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4453">
                  <a:extLst>
                    <a:ext uri="{9D8B030D-6E8A-4147-A177-3AD203B41FA5}">
                      <a16:colId xmlns:a16="http://schemas.microsoft.com/office/drawing/2014/main" val="3190038446"/>
                    </a:ext>
                  </a:extLst>
                </a:gridCol>
                <a:gridCol w="276871">
                  <a:extLst>
                    <a:ext uri="{9D8B030D-6E8A-4147-A177-3AD203B41FA5}">
                      <a16:colId xmlns:a16="http://schemas.microsoft.com/office/drawing/2014/main" val="4081208705"/>
                    </a:ext>
                  </a:extLst>
                </a:gridCol>
                <a:gridCol w="5770708">
                  <a:extLst>
                    <a:ext uri="{9D8B030D-6E8A-4147-A177-3AD203B41FA5}">
                      <a16:colId xmlns:a16="http://schemas.microsoft.com/office/drawing/2014/main" val="1070012561"/>
                    </a:ext>
                  </a:extLst>
                </a:gridCol>
              </a:tblGrid>
              <a:tr h="186261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rPr>
                        <a:t>HIGHLIGHTS</a:t>
                      </a:r>
                      <a:r>
                        <a:rPr lang="en-US" sz="1000" b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rPr>
                        <a:t> – </a:t>
                      </a: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MARCH – RETENTION BY BUSINESS UNIT: ROLLING 12-MONTH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(excludes</a:t>
                      </a:r>
                      <a:endParaRPr kumimoji="0" lang="en-US" b="1" dirty="0">
                        <a:solidFill>
                          <a:schemeClr val="bg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45720" marR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21783"/>
                  </a:ext>
                </a:extLst>
              </a:tr>
              <a:tr h="350087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br>
                        <a:rPr lang="en-US" sz="1100" b="0" kern="0" spc="0" baseline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Segoe UI Semibold"/>
                        </a:rPr>
                      </a:br>
                      <a:endParaRPr lang="en-US" sz="1050" b="0" kern="0" spc="0" baseline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Segoe UI Semibold"/>
                      </a:endParaRPr>
                    </a:p>
                  </a:txBody>
                  <a:tcPr marL="45720" marR="0" marT="137160" marB="0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54864" marB="0" anchor="ctr"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27087"/>
                  </a:ext>
                </a:extLst>
              </a:tr>
              <a:tr h="2285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VOLUNTARY EXITS BY BUSINESS UNIT – MARCH 2023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latin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8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DEI DATA POINTS – U.S. BASED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185927"/>
                  </a:ext>
                </a:extLst>
              </a:tr>
            </a:tbl>
          </a:graphicData>
        </a:graphic>
      </p:graphicFrame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6345755C-6462-E4CE-418A-E4BE2D3172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6625" y="5177093"/>
            <a:ext cx="1057274" cy="626874"/>
          </a:xfrm>
          <a:solidFill>
            <a:schemeClr val="accent6"/>
          </a:solidFill>
        </p:spPr>
        <p:txBody>
          <a:bodyPr tIns="0" bIns="91440" anchor="ctr" anchorCtr="0"/>
          <a:lstStyle>
            <a:lvl1pPr marL="0" indent="0" algn="ctr">
              <a:spcBef>
                <a:spcPts val="0"/>
              </a:spcBef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51">
            <a:extLst>
              <a:ext uri="{FF2B5EF4-FFF2-40B4-BE49-F238E27FC236}">
                <a16:creationId xmlns:a16="http://schemas.microsoft.com/office/drawing/2014/main" id="{9FF99574-EE47-AF9A-7D9C-F8C4D5181C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6624" y="5575861"/>
            <a:ext cx="1057275" cy="230188"/>
          </a:xfrm>
        </p:spPr>
        <p:txBody>
          <a:bodyPr/>
          <a:lstStyle>
            <a:lvl1pPr marL="0" indent="0" algn="ctr">
              <a:buNone/>
              <a:defRPr kumimoji="0" lang="en-US" sz="8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voluntary exits</a:t>
            </a:r>
          </a:p>
        </p:txBody>
      </p:sp>
      <p:sp>
        <p:nvSpPr>
          <p:cNvPr id="13" name="Text Placeholder 42">
            <a:extLst>
              <a:ext uri="{FF2B5EF4-FFF2-40B4-BE49-F238E27FC236}">
                <a16:creationId xmlns:a16="http://schemas.microsoft.com/office/drawing/2014/main" id="{A95D6641-665C-5E05-6611-9F25E9FEC9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6624" y="5851006"/>
            <a:ext cx="1057274" cy="626874"/>
          </a:xfrm>
          <a:solidFill>
            <a:schemeClr val="accent6"/>
          </a:solidFill>
        </p:spPr>
        <p:txBody>
          <a:bodyPr tIns="0" bIns="91440" anchor="ctr" anchorCtr="0"/>
          <a:lstStyle>
            <a:lvl1pPr marL="0" indent="0" algn="ctr">
              <a:spcBef>
                <a:spcPts val="0"/>
              </a:spcBef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009D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51">
            <a:extLst>
              <a:ext uri="{FF2B5EF4-FFF2-40B4-BE49-F238E27FC236}">
                <a16:creationId xmlns:a16="http://schemas.microsoft.com/office/drawing/2014/main" id="{55253EDF-E011-8671-0C30-6A97C6C105D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6623" y="6249774"/>
            <a:ext cx="1057275" cy="230188"/>
          </a:xfrm>
        </p:spPr>
        <p:txBody>
          <a:bodyPr/>
          <a:lstStyle>
            <a:lvl1pPr marL="0" indent="0" algn="ctr">
              <a:buNone/>
              <a:defRPr kumimoji="0" lang="en-US" sz="8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YTD voluntary exits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D1B90FF0-B9B9-CB18-0259-84380F011C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500882" y="971275"/>
            <a:ext cx="822325" cy="2206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Month 20YY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90FDE548-A6DC-E78D-55E4-57268C0FDE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53846" y="366713"/>
            <a:ext cx="3502025" cy="5556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sz="4400" dirty="0">
                <a:latin typeface="Söhne Halbfett" panose="020B0703030202060203" pitchFamily="34" charset="0"/>
              </a:rPr>
              <a:t>Month 20YY</a:t>
            </a:r>
            <a:endParaRPr lang="en-US" dirty="0"/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57227938-8A71-AB91-A7DF-5D5C021E004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29467" y="971275"/>
            <a:ext cx="5233833" cy="2206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Month – RETENTION BY BUSINESS UNIT: ROLLING 12-MONTH (excludes interns)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317B640-0A95-CB21-4074-A5932835305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76417" y="1240875"/>
            <a:ext cx="5052858" cy="331207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5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93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with Careers Page U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3B9E8E-CA11-E2ED-96F0-263250D46D59}"/>
              </a:ext>
            </a:extLst>
          </p:cNvPr>
          <p:cNvSpPr txBox="1"/>
          <p:nvPr userDrawn="1"/>
        </p:nvSpPr>
        <p:spPr>
          <a:xfrm>
            <a:off x="2124500" y="2410941"/>
            <a:ext cx="7943000" cy="1676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0667"/>
              </a:lnSpc>
            </a:pPr>
            <a:r>
              <a:rPr lang="en-US" sz="9600" b="0" dirty="0">
                <a:solidFill>
                  <a:schemeClr val="tx1"/>
                </a:solidFill>
                <a:latin typeface="Arial" panose="020B0604020202020204" pitchFamily="34" charset="0"/>
              </a:rPr>
              <a:t>Questions</a:t>
            </a:r>
            <a:r>
              <a:rPr lang="en-US" sz="9600" b="0" dirty="0">
                <a:solidFill>
                  <a:schemeClr val="accent1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7208E-2667-9F3B-AF3E-7779BA05DF9F}"/>
              </a:ext>
            </a:extLst>
          </p:cNvPr>
          <p:cNvSpPr txBox="1"/>
          <p:nvPr userDrawn="1"/>
        </p:nvSpPr>
        <p:spPr>
          <a:xfrm>
            <a:off x="336550" y="5383677"/>
            <a:ext cx="6528707" cy="464230"/>
          </a:xfrm>
          <a:prstGeom prst="rect">
            <a:avLst/>
          </a:prstGeom>
          <a:noFill/>
        </p:spPr>
        <p:txBody>
          <a:bodyPr wrap="square" lIns="0" tIns="0" rIns="0" bIns="91440" rtlCol="0">
            <a:spAutoFit/>
          </a:bodyPr>
          <a:lstStyle/>
          <a:p>
            <a:pPr marL="0" lvl="0" indent="0" algn="l" defTabSz="914400" rtl="0" eaLnBrk="1" latinLnBrk="0" hangingPunct="1">
              <a:lnSpc>
                <a:spcPts val="29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800" kern="1200" cap="all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rPr>
              <a:t>Start your career with 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6A2AC-291D-E4D3-3FE4-1FD42673C250}"/>
              </a:ext>
            </a:extLst>
          </p:cNvPr>
          <p:cNvSpPr txBox="1"/>
          <p:nvPr userDrawn="1"/>
        </p:nvSpPr>
        <p:spPr>
          <a:xfrm>
            <a:off x="336550" y="5878977"/>
            <a:ext cx="6528707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t>salasobrien.com/careers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F9D19802-AA4C-BBA7-AA69-403751753DBE}"/>
              </a:ext>
            </a:extLst>
          </p:cNvPr>
          <p:cNvSpPr/>
          <p:nvPr userDrawn="1"/>
        </p:nvSpPr>
        <p:spPr>
          <a:xfrm rot="16200000">
            <a:off x="10315575" y="4990118"/>
            <a:ext cx="1876425" cy="1876425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360A9DF-23DA-9133-C4C8-AF377F196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8912" y="5513268"/>
            <a:ext cx="629750" cy="83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96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Oth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ED7C5D-45DB-EBCA-48B0-131E05C362C7}"/>
              </a:ext>
            </a:extLst>
          </p:cNvPr>
          <p:cNvSpPr/>
          <p:nvPr userDrawn="1"/>
        </p:nvSpPr>
        <p:spPr>
          <a:xfrm>
            <a:off x="5275638" y="0"/>
            <a:ext cx="6915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20E89A4-A1E6-A590-28F7-6BDD2233F8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04116" y="666750"/>
            <a:ext cx="397148" cy="32660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289817-0D6E-679E-8520-5166F0588E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262" y="666750"/>
            <a:ext cx="5851276" cy="4362449"/>
          </a:xfrm>
          <a:prstGeom prst="rect">
            <a:avLst/>
          </a:prstGeom>
        </p:spPr>
        <p:txBody>
          <a:bodyPr lIns="548640" tIns="0" bIns="0"/>
          <a:lstStyle>
            <a:lvl1pPr marL="0" indent="0">
              <a:buNone/>
              <a:defRPr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quote here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BA3D27A1-622F-71B2-A33E-5A7899BB8A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76" y="666751"/>
            <a:ext cx="4210050" cy="1028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line title in sentence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645C-70CC-55EA-81BD-5364863643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9138" y="5175251"/>
            <a:ext cx="5868987" cy="3266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3E0B2FB-3992-5F03-F6D6-D292F02CCC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09187" y="5532001"/>
            <a:ext cx="5868987" cy="436719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IN ALL CAPS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6BC7B-7C13-0B76-D557-CB81EDF30B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3826" y="2156260"/>
            <a:ext cx="4230148" cy="361950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accent1"/>
              </a:buClr>
              <a:buFont typeface="Wingdings 3" panose="05040102010807070707" pitchFamily="18" charset="2"/>
              <a:buChar char="y"/>
              <a:defRPr lang="en-US" sz="28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E447D-EEF3-C6A8-0D5C-0E4E592D3EE4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EA150856-FAFB-A83A-81DD-3A2017AB3C77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5DF18B4-B14A-81AA-D047-A55DB0F6AB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7124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utho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4F7F91-0B6B-240B-6865-B1A22706642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82588" y="471488"/>
            <a:ext cx="5033962" cy="595521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153FA8C1-4736-1BAD-2452-01A58EA131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262" y="666750"/>
            <a:ext cx="5851276" cy="4362449"/>
          </a:xfrm>
        </p:spPr>
        <p:txBody>
          <a:bodyPr lIns="0" tIns="0" bIns="0"/>
          <a:lstStyle>
            <a:lvl1pPr marL="0" indent="461963">
              <a:buNone/>
              <a:defRPr sz="32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quote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68A33F3-81EC-7184-9F5F-6F10C1241C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9139" y="5175251"/>
            <a:ext cx="5851276" cy="32660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F5F6DBA-E6C7-A1E5-087D-A5FF0FBF1F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09187" y="5478733"/>
            <a:ext cx="5841351" cy="436719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IN ALL CAPS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A18D0B8-2647-1F5B-E348-69BD18DD97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09187" y="712653"/>
            <a:ext cx="343188" cy="28223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D8EACF-9FA6-0089-AEAC-855FBF653D45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D6EA3FB6-9E9B-CA55-B850-3228A3D21183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703344E-9008-F3B7-9368-D02D0EA997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8549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Quote from S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53928-5266-1564-434B-DFB72FED8B47}"/>
              </a:ext>
            </a:extLst>
          </p:cNvPr>
          <p:cNvSpPr/>
          <p:nvPr userDrawn="1"/>
        </p:nvSpPr>
        <p:spPr>
          <a:xfrm>
            <a:off x="5697899" y="0"/>
            <a:ext cx="6494101" cy="233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7DFC5C15-A27C-A652-4FF3-910F54394C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3851" y="3133321"/>
            <a:ext cx="291884" cy="240039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E77CF109-6ABB-1C14-AA5E-3241A6B71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3851" y="3233568"/>
            <a:ext cx="5552245" cy="1666778"/>
          </a:xfrm>
          <a:prstGeom prst="rect">
            <a:avLst/>
          </a:prstGeom>
        </p:spPr>
        <p:txBody>
          <a:bodyPr lIns="0" tIns="0" bIns="0"/>
          <a:lstStyle>
            <a:lvl1pPr marL="0" indent="342900">
              <a:buNone/>
              <a:defRPr sz="18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quote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D2FC92-E679-A4EC-E75A-E23C86C59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3803" y="5246831"/>
            <a:ext cx="5562293" cy="3266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A59777-E87D-1135-CA06-50F4086972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3852" y="5603582"/>
            <a:ext cx="5562294" cy="32660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IN ALL CAPS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854772B8-8E90-0EFB-C355-9E0691D2271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63803" y="0"/>
            <a:ext cx="5562293" cy="2791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827CF3E5-79D0-D039-2D04-ADB966066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706" y="695324"/>
            <a:ext cx="4743070" cy="130764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This title can be one or two lines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4FAB118F-6951-70D4-A0F9-C17CF44C0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706" y="2184400"/>
            <a:ext cx="4743070" cy="435133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977E7E-D10B-E438-EEAF-F2B0B6E1032C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E5F876EA-1A23-16EF-C805-9DDA75086302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ED49787-B73A-6B73-DFB1-7E5B003F00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0421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Quote from SME Rever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5FD2D-9BF8-329F-7CA1-01BB370498DD}"/>
              </a:ext>
            </a:extLst>
          </p:cNvPr>
          <p:cNvSpPr/>
          <p:nvPr userDrawn="1"/>
        </p:nvSpPr>
        <p:spPr>
          <a:xfrm>
            <a:off x="-15076" y="-36793"/>
            <a:ext cx="6494101" cy="233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7DFC5C15-A27C-A652-4FF3-910F54394C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77" y="3133321"/>
            <a:ext cx="291884" cy="240039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E77CF109-6ABB-1C14-AA5E-3241A6B71D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0877" y="3233568"/>
            <a:ext cx="5552245" cy="1666778"/>
          </a:xfrm>
          <a:prstGeom prst="rect">
            <a:avLst/>
          </a:prstGeom>
        </p:spPr>
        <p:txBody>
          <a:bodyPr lIns="0" tIns="0" bIns="0"/>
          <a:lstStyle>
            <a:lvl1pPr marL="0" indent="342900">
              <a:buNone/>
              <a:defRPr sz="18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quote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D2FC92-E679-A4EC-E75A-E23C86C59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29" y="5246831"/>
            <a:ext cx="5562293" cy="3266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A59777-E87D-1135-CA06-50F4086972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78" y="5603582"/>
            <a:ext cx="5562294" cy="32660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IN ALL CAPS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854772B8-8E90-0EFB-C355-9E0691D2271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0829" y="0"/>
            <a:ext cx="5562293" cy="2791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sp>
        <p:nvSpPr>
          <p:cNvPr id="22" name="Title 4">
            <a:extLst>
              <a:ext uri="{FF2B5EF4-FFF2-40B4-BE49-F238E27FC236}">
                <a16:creationId xmlns:a16="http://schemas.microsoft.com/office/drawing/2014/main" id="{B4F72AF4-A84A-84B3-C404-A068188B4E52}"/>
              </a:ext>
            </a:extLst>
          </p:cNvPr>
          <p:cNvSpPr txBox="1">
            <a:spLocks/>
          </p:cNvSpPr>
          <p:nvPr userDrawn="1"/>
        </p:nvSpPr>
        <p:spPr>
          <a:xfrm>
            <a:off x="533706" y="1300854"/>
            <a:ext cx="4601569" cy="5968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öhne Halbfett" panose="020B0703030202060203" pitchFamily="34" charset="0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4FAB118F-6951-70D4-A0F9-C17CF44C0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4577" y="2184400"/>
            <a:ext cx="4606594" cy="435133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740136DF-40BE-D945-ABF6-B55EFCD21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4577" y="695324"/>
            <a:ext cx="4606594" cy="1202429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This title can be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F8064-BB09-F138-5618-FD1F46D8F0A2}"/>
              </a:ext>
            </a:extLst>
          </p:cNvPr>
          <p:cNvGrpSpPr/>
          <p:nvPr userDrawn="1"/>
        </p:nvGrpSpPr>
        <p:grpSpPr>
          <a:xfrm>
            <a:off x="11614950" y="6280950"/>
            <a:ext cx="577050" cy="577050"/>
            <a:chOff x="11614950" y="6280950"/>
            <a:chExt cx="577050" cy="577050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84EEE5CF-28BA-3152-EE39-F06DF9DC868C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C6F7709-4B76-3F1C-9589-34AF69EC3A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5405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Scene Photo and Autho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04C7687D-42EC-AEED-B7FC-5903B2EDA1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8429" y="1387057"/>
            <a:ext cx="5237162" cy="2468882"/>
          </a:xfrm>
          <a:prstGeom prst="rect">
            <a:avLst/>
          </a:prstGeom>
        </p:spPr>
        <p:txBody>
          <a:bodyPr lIns="0" tIns="0" bIns="0"/>
          <a:lstStyle>
            <a:lvl1pPr marL="0" indent="457200">
              <a:buNone/>
              <a:defRPr sz="32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This is a quote example. 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A9EC27A2-20F2-AEED-E173-20338F7466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8355" y="1410572"/>
            <a:ext cx="343188" cy="28223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Picture Placeholder 24">
            <a:extLst>
              <a:ext uri="{FF2B5EF4-FFF2-40B4-BE49-F238E27FC236}">
                <a16:creationId xmlns:a16="http://schemas.microsoft.com/office/drawing/2014/main" id="{77D765C5-D30E-07E8-FA2F-173AB4A4FC6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098633" y="4530445"/>
            <a:ext cx="1803979" cy="17342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31F1D78-7458-B51A-33DA-96B745EF82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8355" y="4979707"/>
            <a:ext cx="2898319" cy="32660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4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IN ALL CAPS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D5F9988-70CC-49E6-0E86-98F5293D86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8429" y="4530445"/>
            <a:ext cx="2903243" cy="3266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22" name="Picture Placeholder 24">
            <a:extLst>
              <a:ext uri="{FF2B5EF4-FFF2-40B4-BE49-F238E27FC236}">
                <a16:creationId xmlns:a16="http://schemas.microsoft.com/office/drawing/2014/main" id="{FCB384C2-0219-4129-B9D6-97F828574F4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954838" y="0"/>
            <a:ext cx="5237162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add to this image, click the icon in the center of this frame and choose the photo you’d like to feature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49F04F5-83CC-E446-6EAD-CE79F942ACE7}"/>
              </a:ext>
            </a:extLst>
          </p:cNvPr>
          <p:cNvGrpSpPr/>
          <p:nvPr userDrawn="1"/>
        </p:nvGrpSpPr>
        <p:grpSpPr>
          <a:xfrm rot="10800000">
            <a:off x="0" y="0"/>
            <a:ext cx="577050" cy="577050"/>
            <a:chOff x="11614950" y="6280950"/>
            <a:chExt cx="577050" cy="577050"/>
          </a:xfrm>
        </p:grpSpPr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689D17D9-329E-48E3-F638-D18B2E5F37F9}"/>
                </a:ext>
              </a:extLst>
            </p:cNvPr>
            <p:cNvSpPr/>
            <p:nvPr userDrawn="1"/>
          </p:nvSpPr>
          <p:spPr>
            <a:xfrm rot="16200000">
              <a:off x="11614950" y="6280950"/>
              <a:ext cx="577050" cy="57705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C9DB938-F744-E955-BC11-ED729EFA32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11806643" y="6441833"/>
              <a:ext cx="193664" cy="25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9157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3B9E8E-CA11-E2ED-96F0-263250D46D59}"/>
              </a:ext>
            </a:extLst>
          </p:cNvPr>
          <p:cNvSpPr txBox="1"/>
          <p:nvPr userDrawn="1"/>
        </p:nvSpPr>
        <p:spPr>
          <a:xfrm>
            <a:off x="2124500" y="2590800"/>
            <a:ext cx="7943000" cy="1676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0667"/>
              </a:lnSpc>
            </a:pPr>
            <a:r>
              <a:rPr lang="en-US" sz="9600" b="0" dirty="0">
                <a:solidFill>
                  <a:schemeClr val="tx1"/>
                </a:solidFill>
                <a:latin typeface="Arial" panose="020B0604020202020204" pitchFamily="34" charset="0"/>
              </a:rPr>
              <a:t>Questions</a:t>
            </a:r>
            <a:r>
              <a:rPr lang="en-US" sz="9600" b="0" dirty="0">
                <a:solidFill>
                  <a:schemeClr val="accent1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AAE5AC77-04BB-14D4-D830-47C7F5915F57}"/>
              </a:ext>
            </a:extLst>
          </p:cNvPr>
          <p:cNvSpPr/>
          <p:nvPr userDrawn="1"/>
        </p:nvSpPr>
        <p:spPr>
          <a:xfrm rot="16200000">
            <a:off x="10315575" y="4990118"/>
            <a:ext cx="1876425" cy="1876425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FDE6982-E033-7EC5-E3B5-D77CCCA49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8912" y="5513268"/>
            <a:ext cx="629750" cy="83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06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with Present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3B9E8E-CA11-E2ED-96F0-263250D46D59}"/>
              </a:ext>
            </a:extLst>
          </p:cNvPr>
          <p:cNvSpPr txBox="1"/>
          <p:nvPr userDrawn="1"/>
        </p:nvSpPr>
        <p:spPr>
          <a:xfrm>
            <a:off x="2124500" y="2060396"/>
            <a:ext cx="7943000" cy="1676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0667"/>
              </a:lnSpc>
            </a:pPr>
            <a:r>
              <a:rPr lang="en-US" sz="9600" b="0" dirty="0">
                <a:solidFill>
                  <a:schemeClr val="tx1"/>
                </a:solidFill>
                <a:latin typeface="Arial" panose="020B0604020202020204" pitchFamily="34" charset="0"/>
              </a:rPr>
              <a:t>Questions</a:t>
            </a:r>
            <a:r>
              <a:rPr lang="en-US" sz="9600" b="0" dirty="0">
                <a:solidFill>
                  <a:schemeClr val="accent1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231BD305-7DC0-4F87-B31D-895D84E26D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5383677"/>
            <a:ext cx="7981950" cy="4202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900"/>
              </a:lnSpc>
              <a:spcBef>
                <a:spcPts val="1200"/>
              </a:spcBef>
              <a:buFont typeface="Arial" panose="020B0604020202020204" pitchFamily="34" charset="0"/>
              <a:buNone/>
              <a:defRPr cap="all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FB72591F-BB68-4FC3-8AA6-1867042B89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550" y="5878978"/>
            <a:ext cx="7981950" cy="3438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dirty="0"/>
              <a:t>Presenter Email</a:t>
            </a:r>
          </a:p>
          <a:p>
            <a:pPr lvl="0"/>
            <a:r>
              <a:rPr lang="en-US" dirty="0"/>
              <a:t>Presenter Phone Number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525C9296-042F-FAFD-6A38-28C24969F672}"/>
              </a:ext>
            </a:extLst>
          </p:cNvPr>
          <p:cNvSpPr/>
          <p:nvPr userDrawn="1"/>
        </p:nvSpPr>
        <p:spPr>
          <a:xfrm rot="16200000">
            <a:off x="10315575" y="4990118"/>
            <a:ext cx="1876425" cy="1876425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55A4943-66D4-BF6D-E5B1-2E7085052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8912" y="5513268"/>
            <a:ext cx="629750" cy="83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46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4333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1695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1461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926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2606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1147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93273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587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145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8968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46968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948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25391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610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61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27642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E67E992B-9104-B314-8A27-BBF2ADDEEB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tIns="173736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Follow directions above slide in pasteboard in red to add photo. Zoom out if you can’t see the instructions.</a:t>
            </a:r>
          </a:p>
        </p:txBody>
      </p:sp>
      <p:pic>
        <p:nvPicPr>
          <p:cNvPr id="2" name="Grid" descr="A picture containing symmetry, screenshot, pattern, line" hidden="1">
            <a:extLst>
              <a:ext uri="{FF2B5EF4-FFF2-40B4-BE49-F238E27FC236}">
                <a16:creationId xmlns:a16="http://schemas.microsoft.com/office/drawing/2014/main" id="{B55B870E-7BA2-64BB-F5D1-3433C3C3E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79A105-10B7-40AA-BFA4-707B28F183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029" y="2708322"/>
            <a:ext cx="6331313" cy="3700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all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SmartArt Placeholder 21">
            <a:extLst>
              <a:ext uri="{FF2B5EF4-FFF2-40B4-BE49-F238E27FC236}">
                <a16:creationId xmlns:a16="http://schemas.microsoft.com/office/drawing/2014/main" id="{B696260E-B4AD-F88B-4756-11F5874C6185}"/>
              </a:ext>
            </a:extLst>
          </p:cNvPr>
          <p:cNvSpPr>
            <a:spLocks noGrp="1"/>
          </p:cNvSpPr>
          <p:nvPr>
            <p:ph type="dgm" sz="quarter" idx="63" hasCustomPrompt="1"/>
          </p:nvPr>
        </p:nvSpPr>
        <p:spPr>
          <a:xfrm>
            <a:off x="590546" y="590064"/>
            <a:ext cx="2441448" cy="484632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07C614-1D05-FFFC-11F4-9F3F66AB9CF0}"/>
              </a:ext>
            </a:extLst>
          </p:cNvPr>
          <p:cNvSpPr txBox="1"/>
          <p:nvPr userDrawn="1"/>
        </p:nvSpPr>
        <p:spPr>
          <a:xfrm>
            <a:off x="0" y="-110266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Note: To add the correct style of cover for this presentation format, select the background image placeholder frame, open the Canto Connector, search for “PowerPoint Style 1 Cover” including the parentheses, choose your favorite option, and click the plus icon that appears when you hover over your selection to insert it into the frame.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39C58266-2DA3-2DC8-84A1-EF4D8B590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1029" y="3233368"/>
            <a:ext cx="6331313" cy="12286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 b="1" i="0" cap="none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 Can Be Two Lines</a:t>
            </a:r>
          </a:p>
        </p:txBody>
      </p:sp>
    </p:spTree>
    <p:extLst>
      <p:ext uri="{BB962C8B-B14F-4D97-AF65-F5344CB8AC3E}">
        <p14:creationId xmlns:p14="http://schemas.microsoft.com/office/powerpoint/2010/main" val="106774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9">
          <p15:clr>
            <a:srgbClr val="FBAE40"/>
          </p15:clr>
        </p15:guide>
        <p15:guide id="2" orient="horz" pos="36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NUL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8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824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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06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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09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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53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y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7FAF712-27A9-8D99-BB5D-F8F37F125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738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57" r:id="rId5"/>
    <p:sldLayoutId id="2147483858" r:id="rId6"/>
    <p:sldLayoutId id="2147483832" r:id="rId7"/>
    <p:sldLayoutId id="2147483833" r:id="rId8"/>
    <p:sldLayoutId id="2147483856" r:id="rId9"/>
    <p:sldLayoutId id="2147483835" r:id="rId10"/>
    <p:sldLayoutId id="2147483836" r:id="rId11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y"/>
        <a:defRPr lang="en-US" sz="2800" kern="1200" dirty="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35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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106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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561326-D52D-5DBA-C0A9-2A00A24CE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15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y"/>
        <a:defRPr lang="en-US" sz="2800" kern="1200" dirty="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C9097093-25AC-5813-9B3E-E4A9A3DDE0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5E601-69D2-4177-8A2B-FE05300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30" y="365125"/>
            <a:ext cx="1101417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0FE8-3145-4BD7-81C8-622D8F99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330" y="1825625"/>
            <a:ext cx="1101417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255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SzPct val="50000"/>
        <a:buFont typeface="Wingdings 3" panose="05040102010807070707" pitchFamily="18" charset="2"/>
        <a:buChar char="y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13716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18288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2286000" indent="-4572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Grid" descr="A picture containing symmetry, screenshot, pattern, line&#10;&#10;Description automatically generated" hidden="1">
            <a:extLst>
              <a:ext uri="{FF2B5EF4-FFF2-40B4-BE49-F238E27FC236}">
                <a16:creationId xmlns:a16="http://schemas.microsoft.com/office/drawing/2014/main" id="{47058C60-88B7-E407-3097-FFDFBABD5735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00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  <p:sldLayoutId id="2147483890" r:id="rId13"/>
    <p:sldLayoutId id="2147483891" r:id="rId14"/>
    <p:sldLayoutId id="2147483892" r:id="rId15"/>
    <p:sldLayoutId id="2147483893" r:id="rId16"/>
    <p:sldLayoutId id="21474838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hyperlink" Target="https://scribehow.com/shared/Create_Custom_Cover_for_PowerPoint_Presentation_Style_1__ztlybo5GRIK7aw0odgKxJ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ribehow.com/shared/Create_Custom_Cover_for_PowerPoint_Presentation_Style_1__ztlybo5GRIK7aw0odgKxJ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scribehow.com/shared/Create_Custom_Cover_for_PowerPoint_Presentation_Style_1__ztlybo5GRIK7aw0odgKxJw" TargetMode="External"/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scribehow.com/shared/Create_Custom_Cover_for_PowerPoint_Presentation_Style_1__ztlybo5GRIK7aw0odgKxJw" TargetMode="External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14A6B2B-A4D9-8409-8DB0-1A3F926EB4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600FDB-78E6-9BD3-0569-B540902C9A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86" y="1743122"/>
            <a:ext cx="10021373" cy="2925697"/>
          </a:xfrm>
        </p:spPr>
        <p:txBody>
          <a:bodyPr/>
          <a:lstStyle/>
          <a:p>
            <a:r>
              <a:rPr lang="en-CA" sz="3000" dirty="0"/>
              <a:t>Demo Session for ETABSPY </a:t>
            </a:r>
          </a:p>
          <a:p>
            <a:r>
              <a:rPr lang="en-CA" sz="3000" i="1" dirty="0"/>
              <a:t>New Python-Based Design Aid Tool</a:t>
            </a:r>
            <a:endParaRPr lang="en-CA" sz="4400" i="1" dirty="0"/>
          </a:p>
          <a:p>
            <a:endParaRPr lang="en-CA" sz="4400" dirty="0"/>
          </a:p>
          <a:p>
            <a:endParaRPr lang="en-CA" sz="4400" dirty="0"/>
          </a:p>
          <a:p>
            <a:r>
              <a:rPr lang="en-CA" sz="2800" dirty="0"/>
              <a:t>Tech Committee 2026</a:t>
            </a:r>
          </a:p>
          <a:p>
            <a:endParaRPr lang="en-CA" sz="2800" dirty="0"/>
          </a:p>
          <a:p>
            <a:r>
              <a:rPr lang="en-CA" sz="2800" dirty="0"/>
              <a:t>Efficiency Improvements Focus Group</a:t>
            </a:r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5C4993C2-8518-183E-044D-B8FA136D4CD4}"/>
              </a:ext>
            </a:extLst>
          </p:cNvPr>
          <p:cNvSpPr>
            <a:spLocks noGrp="1"/>
          </p:cNvSpPr>
          <p:nvPr>
            <p:ph type="dgm" sz="quarter" idx="63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55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D1752-0D18-B2B0-33B7-5D539EB7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65E66A-3AAE-5C24-E4BD-CDD82A698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465511"/>
            <a:ext cx="8068801" cy="4305901"/>
          </a:xfrm>
          <a:prstGeom prst="rect">
            <a:avLst/>
          </a:prstGeom>
        </p:spPr>
      </p:pic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7926BC80-4F71-A771-BE62-26114F4CCCDE}"/>
              </a:ext>
            </a:extLst>
          </p:cNvPr>
          <p:cNvSpPr>
            <a:spLocks noGrp="1"/>
          </p:cNvSpPr>
          <p:nvPr>
            <p:ph type="dgm" sz="quarter" idx="63"/>
          </p:nvPr>
        </p:nvSpPr>
        <p:spPr>
          <a:xfrm>
            <a:off x="0" y="66227"/>
            <a:ext cx="2441448" cy="484632"/>
          </a:xfrm>
        </p:spPr>
        <p:txBody>
          <a:bodyPr/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ED680-13E7-D3FA-3CC2-6D8B079899AF}"/>
              </a:ext>
            </a:extLst>
          </p:cNvPr>
          <p:cNvSpPr txBox="1"/>
          <p:nvPr/>
        </p:nvSpPr>
        <p:spPr>
          <a:xfrm>
            <a:off x="647700" y="7124898"/>
            <a:ext cx="725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Click here </a:t>
            </a:r>
            <a:r>
              <a:rPr lang="en-US" dirty="0"/>
              <a:t>to learn how to create a custom cover for this presentation.</a:t>
            </a:r>
          </a:p>
          <a:p>
            <a:r>
              <a:rPr lang="en-US" dirty="0">
                <a:solidFill>
                  <a:srgbClr val="E35920"/>
                </a:solidFill>
              </a:rPr>
              <a:t>Photoshop is required.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89CAE-69B6-8EAD-C58A-4FFA222EF8E2}"/>
              </a:ext>
            </a:extLst>
          </p:cNvPr>
          <p:cNvSpPr txBox="1"/>
          <p:nvPr/>
        </p:nvSpPr>
        <p:spPr>
          <a:xfrm>
            <a:off x="408003" y="12679"/>
            <a:ext cx="6121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>
                <a:solidFill>
                  <a:schemeClr val="accent1">
                    <a:lumMod val="75000"/>
                  </a:schemeClr>
                </a:solidFill>
              </a:rPr>
              <a:t>ETABSY V1.0 Refresher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8F858E-CF88-F531-190E-7BA5199D1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465511"/>
            <a:ext cx="7994654" cy="5149215"/>
          </a:xfrm>
          <a:prstGeom prst="rect">
            <a:avLst/>
          </a:prstGeom>
        </p:spPr>
      </p:pic>
      <p:pic>
        <p:nvPicPr>
          <p:cNvPr id="12" name="Picture 11" descr="A close-up of a red rectangle&#10;&#10;AI-generated content may be incorrect.">
            <a:extLst>
              <a:ext uri="{FF2B5EF4-FFF2-40B4-BE49-F238E27FC236}">
                <a16:creationId xmlns:a16="http://schemas.microsoft.com/office/drawing/2014/main" id="{05C1C8B9-9828-FEC4-7F6C-9150F7EA5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1754" y="2887278"/>
            <a:ext cx="1493649" cy="67061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CC5F6C-4B26-609D-913D-8B4EB54A375C}"/>
              </a:ext>
            </a:extLst>
          </p:cNvPr>
          <p:cNvCxnSpPr>
            <a:cxnSpLocks/>
          </p:cNvCxnSpPr>
          <p:nvPr/>
        </p:nvCxnSpPr>
        <p:spPr>
          <a:xfrm>
            <a:off x="1254252" y="1788718"/>
            <a:ext cx="1485771" cy="14510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7E93B3A-51B5-0D6D-E06E-05545A4DD3EC}"/>
              </a:ext>
            </a:extLst>
          </p:cNvPr>
          <p:cNvSpPr/>
          <p:nvPr/>
        </p:nvSpPr>
        <p:spPr>
          <a:xfrm>
            <a:off x="647700" y="651002"/>
            <a:ext cx="7994654" cy="627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Improvement to API calls and data loading method from ETABS to prevent software crashing for large files</a:t>
            </a:r>
          </a:p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UI overhaul with more granular control</a:t>
            </a:r>
          </a:p>
        </p:txBody>
      </p:sp>
    </p:spTree>
    <p:extLst>
      <p:ext uri="{BB962C8B-B14F-4D97-AF65-F5344CB8AC3E}">
        <p14:creationId xmlns:p14="http://schemas.microsoft.com/office/powerpoint/2010/main" val="131033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79F2-29E4-9A7E-5575-DD9C5CC7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EC5B1E6B-0757-1F08-B624-90FF27F3F035}"/>
              </a:ext>
            </a:extLst>
          </p:cNvPr>
          <p:cNvSpPr>
            <a:spLocks noGrp="1"/>
          </p:cNvSpPr>
          <p:nvPr>
            <p:ph type="dgm" sz="quarter" idx="63"/>
          </p:nvPr>
        </p:nvSpPr>
        <p:spPr>
          <a:xfrm>
            <a:off x="0" y="66227"/>
            <a:ext cx="2441448" cy="484632"/>
          </a:xfrm>
        </p:spPr>
        <p:txBody>
          <a:bodyPr/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307DB-51F8-0A10-B1AC-589DDAD3A96A}"/>
              </a:ext>
            </a:extLst>
          </p:cNvPr>
          <p:cNvSpPr txBox="1"/>
          <p:nvPr/>
        </p:nvSpPr>
        <p:spPr>
          <a:xfrm>
            <a:off x="647700" y="7124898"/>
            <a:ext cx="725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Click here </a:t>
            </a:r>
            <a:r>
              <a:rPr lang="en-US" dirty="0"/>
              <a:t>to learn how to create a custom cover for this presentation.</a:t>
            </a:r>
          </a:p>
          <a:p>
            <a:r>
              <a:rPr lang="en-US" dirty="0">
                <a:solidFill>
                  <a:srgbClr val="E35920"/>
                </a:solidFill>
              </a:rPr>
              <a:t>Photoshop is required.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57EBE-89E0-1687-9919-283974516FB4}"/>
              </a:ext>
            </a:extLst>
          </p:cNvPr>
          <p:cNvSpPr txBox="1"/>
          <p:nvPr/>
        </p:nvSpPr>
        <p:spPr>
          <a:xfrm>
            <a:off x="408003" y="12679"/>
            <a:ext cx="6121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>
                <a:solidFill>
                  <a:schemeClr val="accent1">
                    <a:lumMod val="75000"/>
                  </a:schemeClr>
                </a:solidFill>
              </a:rPr>
              <a:t>ETABSY V2.0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61588-4123-7193-639B-79D862432D2D}"/>
              </a:ext>
            </a:extLst>
          </p:cNvPr>
          <p:cNvSpPr/>
          <p:nvPr/>
        </p:nvSpPr>
        <p:spPr>
          <a:xfrm>
            <a:off x="647700" y="651002"/>
            <a:ext cx="7037890" cy="627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New Features: Table Viewer with export to CSV or Edit in Excel button</a:t>
            </a:r>
          </a:p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Ability to save and load previously loaded ETABS models without reconnection to ETABS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E31B85-3953-0CF2-126E-25EC76003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371228"/>
            <a:ext cx="7917179" cy="514446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3C595B-C14B-51BA-495F-7DFA0475E19A}"/>
              </a:ext>
            </a:extLst>
          </p:cNvPr>
          <p:cNvSpPr/>
          <p:nvPr/>
        </p:nvSpPr>
        <p:spPr>
          <a:xfrm>
            <a:off x="691515" y="1935679"/>
            <a:ext cx="5021580" cy="4551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08F7B9-02B0-C5B9-C4A1-85846F345CA9}"/>
              </a:ext>
            </a:extLst>
          </p:cNvPr>
          <p:cNvSpPr/>
          <p:nvPr/>
        </p:nvSpPr>
        <p:spPr>
          <a:xfrm>
            <a:off x="2228850" y="6181313"/>
            <a:ext cx="3326130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6895F159-43E7-C565-9AD5-DE6CF3544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5090550"/>
            <a:ext cx="1516511" cy="54868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A7D716-5017-D206-93DF-581E8EA63314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84860" y="1684020"/>
            <a:ext cx="621096" cy="3406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00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D2FF-59DE-591B-BF99-4F9BD1C7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D8B5F984-16B8-CF7D-FEDA-76C4A3F22BEF}"/>
              </a:ext>
            </a:extLst>
          </p:cNvPr>
          <p:cNvSpPr>
            <a:spLocks noGrp="1"/>
          </p:cNvSpPr>
          <p:nvPr>
            <p:ph type="dgm" sz="quarter" idx="63"/>
          </p:nvPr>
        </p:nvSpPr>
        <p:spPr>
          <a:xfrm>
            <a:off x="0" y="66227"/>
            <a:ext cx="2441448" cy="484632"/>
          </a:xfrm>
        </p:spPr>
        <p:txBody>
          <a:bodyPr/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347D8-D6BA-3AEE-9609-C034C55DFDDC}"/>
              </a:ext>
            </a:extLst>
          </p:cNvPr>
          <p:cNvSpPr txBox="1"/>
          <p:nvPr/>
        </p:nvSpPr>
        <p:spPr>
          <a:xfrm>
            <a:off x="647700" y="7124898"/>
            <a:ext cx="725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Click here </a:t>
            </a:r>
            <a:r>
              <a:rPr lang="en-US" dirty="0"/>
              <a:t>to learn how to create a custom cover for this presentation.</a:t>
            </a:r>
          </a:p>
          <a:p>
            <a:r>
              <a:rPr lang="en-US" dirty="0">
                <a:solidFill>
                  <a:srgbClr val="E35920"/>
                </a:solidFill>
              </a:rPr>
              <a:t>Photoshop is required.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7DCB0-19A1-A95C-3A5E-F2AB8B9E22F0}"/>
              </a:ext>
            </a:extLst>
          </p:cNvPr>
          <p:cNvSpPr txBox="1"/>
          <p:nvPr/>
        </p:nvSpPr>
        <p:spPr>
          <a:xfrm>
            <a:off x="408003" y="12679"/>
            <a:ext cx="6121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>
                <a:solidFill>
                  <a:schemeClr val="accent1">
                    <a:lumMod val="75000"/>
                  </a:schemeClr>
                </a:solidFill>
              </a:rPr>
              <a:t>Settings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AA0592-4A57-CF4D-A491-DE08DB8385FB}"/>
              </a:ext>
            </a:extLst>
          </p:cNvPr>
          <p:cNvSpPr/>
          <p:nvPr/>
        </p:nvSpPr>
        <p:spPr>
          <a:xfrm>
            <a:off x="408003" y="785690"/>
            <a:ext cx="7524817" cy="62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Settings Dialog to control load combinations and pier labels to be included in the SCONCRETE files. </a:t>
            </a:r>
          </a:p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Identical to previous ETABS to SCONCRETE tool.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583604-B62B-4179-3E54-3E7B67F10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95" y="1413234"/>
            <a:ext cx="5212059" cy="516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6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BB5BD-DA8A-C4E1-8C27-07C21476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F2102730-5F07-DB3E-CAA0-B457DAF186C5}"/>
              </a:ext>
            </a:extLst>
          </p:cNvPr>
          <p:cNvSpPr>
            <a:spLocks noGrp="1"/>
          </p:cNvSpPr>
          <p:nvPr>
            <p:ph type="dgm" sz="quarter" idx="63"/>
          </p:nvPr>
        </p:nvSpPr>
        <p:spPr>
          <a:xfrm>
            <a:off x="0" y="66227"/>
            <a:ext cx="2441448" cy="484632"/>
          </a:xfrm>
        </p:spPr>
        <p:txBody>
          <a:bodyPr/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D3680-B5E3-659A-984D-0C89C8214584}"/>
              </a:ext>
            </a:extLst>
          </p:cNvPr>
          <p:cNvSpPr txBox="1"/>
          <p:nvPr/>
        </p:nvSpPr>
        <p:spPr>
          <a:xfrm>
            <a:off x="647700" y="7124898"/>
            <a:ext cx="725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Click here </a:t>
            </a:r>
            <a:r>
              <a:rPr lang="en-US" dirty="0"/>
              <a:t>to learn how to create a custom cover for this presentation.</a:t>
            </a:r>
          </a:p>
          <a:p>
            <a:r>
              <a:rPr lang="en-US" dirty="0">
                <a:solidFill>
                  <a:srgbClr val="E35920"/>
                </a:solidFill>
              </a:rPr>
              <a:t>Photoshop is required.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DD7F2-AF72-FB6B-E23B-F3198919BF09}"/>
              </a:ext>
            </a:extLst>
          </p:cNvPr>
          <p:cNvSpPr txBox="1"/>
          <p:nvPr/>
        </p:nvSpPr>
        <p:spPr>
          <a:xfrm>
            <a:off x="408003" y="12679"/>
            <a:ext cx="6121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>
                <a:solidFill>
                  <a:schemeClr val="accent1">
                    <a:lumMod val="75000"/>
                  </a:schemeClr>
                </a:solidFill>
              </a:rPr>
              <a:t>Pier Forces Viewer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66CE7E-98A5-A6D4-4158-067C0784B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2" y="1296797"/>
            <a:ext cx="7805276" cy="41148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9B9046B-1379-5ABC-1C1F-C0A7BF135499}"/>
              </a:ext>
            </a:extLst>
          </p:cNvPr>
          <p:cNvSpPr/>
          <p:nvPr/>
        </p:nvSpPr>
        <p:spPr>
          <a:xfrm>
            <a:off x="573329" y="867274"/>
            <a:ext cx="5410455" cy="286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b="1" u="sng" dirty="0"/>
              <a:t>Control the creation of SCONCRETE files based on Floor Group column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9F413D-09D9-90D9-3190-6C4F5F34A7B1}"/>
              </a:ext>
            </a:extLst>
          </p:cNvPr>
          <p:cNvSpPr/>
          <p:nvPr/>
        </p:nvSpPr>
        <p:spPr>
          <a:xfrm>
            <a:off x="6777317" y="1811836"/>
            <a:ext cx="806823" cy="161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87B53A-36A6-AA58-9080-BD90A64C35CD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>
            <a:off x="5983784" y="1010743"/>
            <a:ext cx="1196945" cy="801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1691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and Section Intro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580670D0-5DC0-4FCB-BEAD-0D9928F6182A}"/>
    </a:ext>
  </a:extLst>
</a:theme>
</file>

<file path=ppt/theme/theme2.xml><?xml version="1.0" encoding="utf-8"?>
<a:theme xmlns:a="http://schemas.openxmlformats.org/drawingml/2006/main" name="Basic Content Layout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917E3CBB-6414-4CAA-B49F-D8A24D6BA4E8}"/>
    </a:ext>
  </a:extLst>
</a:theme>
</file>

<file path=ppt/theme/theme3.xml><?xml version="1.0" encoding="utf-8"?>
<a:theme xmlns:a="http://schemas.openxmlformats.org/drawingml/2006/main" name="Infographic Layout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240F8A27-AC26-4236-8DDD-67E00D466A0B}"/>
    </a:ext>
  </a:extLst>
</a:theme>
</file>

<file path=ppt/theme/theme4.xml><?xml version="1.0" encoding="utf-8"?>
<a:theme xmlns:a="http://schemas.openxmlformats.org/drawingml/2006/main" name="Project Profile Layout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E9D57837-3CB2-421C-8ACD-E06E6D00D7EC}"/>
    </a:ext>
  </a:extLst>
</a:theme>
</file>

<file path=ppt/theme/theme5.xml><?xml version="1.0" encoding="utf-8"?>
<a:theme xmlns:a="http://schemas.openxmlformats.org/drawingml/2006/main" name="Firm Information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058EEFE4-35F2-4CA0-9CEC-54FD386E6F22}"/>
    </a:ext>
  </a:extLst>
</a:theme>
</file>

<file path=ppt/theme/theme6.xml><?xml version="1.0" encoding="utf-8"?>
<a:theme xmlns:a="http://schemas.openxmlformats.org/drawingml/2006/main" name="Merger Layout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56DB2682-0C83-4EF7-A0F3-0674D49E3CD8}"/>
    </a:ext>
  </a:extLst>
</a:theme>
</file>

<file path=ppt/theme/theme7.xml><?xml version="1.0" encoding="utf-8"?>
<a:theme xmlns:a="http://schemas.openxmlformats.org/drawingml/2006/main" name="HR Layout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7492B07B-8230-46E1-81BD-C9C9A52BD79C}"/>
    </a:ext>
  </a:extLst>
</a:theme>
</file>

<file path=ppt/theme/theme8.xml><?xml version="1.0" encoding="utf-8"?>
<a:theme xmlns:a="http://schemas.openxmlformats.org/drawingml/2006/main" name="Quote Layout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38570E64-EFB8-41A7-A8B8-C3AEDA43F218}"/>
    </a:ext>
  </a:extLst>
</a:theme>
</file>

<file path=ppt/theme/theme9.xml><?xml version="1.0" encoding="utf-8"?>
<a:theme xmlns:a="http://schemas.openxmlformats.org/drawingml/2006/main" name="Questions">
  <a:themeElements>
    <a:clrScheme name="Custom 1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9DE0"/>
      </a:accent1>
      <a:accent2>
        <a:srgbClr val="000086"/>
      </a:accent2>
      <a:accent3>
        <a:srgbClr val="666666"/>
      </a:accent3>
      <a:accent4>
        <a:srgbClr val="999999"/>
      </a:accent4>
      <a:accent5>
        <a:srgbClr val="CCCCCC"/>
      </a:accent5>
      <a:accent6>
        <a:srgbClr val="EDEDED"/>
      </a:accent6>
      <a:hlink>
        <a:srgbClr val="009DE0"/>
      </a:hlink>
      <a:folHlink>
        <a:srgbClr val="000086"/>
      </a:folHlink>
    </a:clrScheme>
    <a:fontScheme name="Salas O'Brien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Style 1-Arial.potx" id="{E40F626D-9A85-4561-9450-F437A9644473}" vid="{78E28962-3A79-4946-ABB7-7079AA565892}"/>
    </a:ext>
  </a:extLst>
</a:theme>
</file>

<file path=ppt/theme/theme10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Salas O'Brien Rebrand">
      <a:dk1>
        <a:srgbClr val="333333"/>
      </a:dk1>
      <a:lt1>
        <a:srgbClr val="FFFFFF"/>
      </a:lt1>
      <a:dk2>
        <a:srgbClr val="333333"/>
      </a:dk2>
      <a:lt2>
        <a:srgbClr val="EDEDED"/>
      </a:lt2>
      <a:accent1>
        <a:srgbClr val="009DE0"/>
      </a:accent1>
      <a:accent2>
        <a:srgbClr val="000086"/>
      </a:accent2>
      <a:accent3>
        <a:srgbClr val="000000"/>
      </a:accent3>
      <a:accent4>
        <a:srgbClr val="666666"/>
      </a:accent4>
      <a:accent5>
        <a:srgbClr val="999999"/>
      </a:accent5>
      <a:accent6>
        <a:srgbClr val="CCCCCC"/>
      </a:accent6>
      <a:hlink>
        <a:srgbClr val="009DE0"/>
      </a:hlink>
      <a:folHlink>
        <a:srgbClr val="000086"/>
      </a:folHlink>
    </a:clrScheme>
    <a:fontScheme name="Brand Refresh - Sohne">
      <a:majorFont>
        <a:latin typeface="Söhne Halbfett"/>
        <a:ea typeface=""/>
        <a:cs typeface=""/>
      </a:majorFont>
      <a:minorFont>
        <a:latin typeface="Söhne Leic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1BE5A2-804F-4113-9F89-C3FC76249C3B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gbns9n6lsp2kp65damm20d9n5p\&quot;,\&quot;tenant\&quot;:\&quot;salasobrien.canto.com\&quot;,\&quot;time\&quot;:\&quot;20220913184905000\&quot;,\&quot;name\&quot;:\&quot;UConn Health_Patient Tower &amp; Hospital Renovation_03_Impact Blue Duotone 45.png\&quot;,\&quot;addedby\&quot;:\&quot;test\&quot;},{\&quot;scheme\&quot;:\&quot;image\&quot;,\&quot;id\&quot;:\&quot;q0ap0pjls51cb8kara0ct0ir13\&quot;,\&quot;tenant\&quot;:\&quot;salasobrien.canto.com\&quot;,\&quot;time\&quot;:\&quot;20220913184904000\&quot;,\&quot;name\&quot;:\&quot;UConn Health_Patient Tower &amp; Hospital Renovation_03_Dark Blue Duotone 45.png\&quot;,\&quot;addedby\&quot;:\&quot;test\&quot;},{\&quot;scheme\&quot;:\&quot;image\&quot;,\&quot;id\&quot;:\&quot;2ueebcl30p30daiql33fk73u0r\&quot;,\&quot;tenant\&quot;:\&quot;salasobrien.canto.com\&quot;,\&quot;time\&quot;:\&quot;20220913184910000\&quot;,\&quot;name\&quot;:\&quot;University of Toronto_Goldring_01_Dark Blue Duotone 45.png\&quot;,\&quot;addedby\&quot;:\&quot;test\&quot;},{\&quot;scheme\&quot;:\&quot;image\&quot;,\&quot;id\&quot;:\&quot;ajqvnklsah0cf6es7a4sa36n4u\&quot;,\&quot;tenant\&quot;:\&quot;salasobrien.canto.com\&quot;,\&quot;time\&quot;:\&quot;20220913184900000\&quot;,\&quot;name\&quot;:\&quot;Sporting KC_Childrens Mercy Park_01_Impact Blue Duotone.png\&quot;,\&quot;addedby\&quot;:\&quot;test\&quot;},{\&quot;scheme\&quot;:\&quot;image\&quot;,\&quot;id\&quot;:\&quot;ninlnole4h22n1uuvrbek5747u\&quot;,\&quot;tenant\&quot;:\&quot;salasobrien.canto.com\&quot;,\&quot;time\&quot;:\&quot;20221129103300000\&quot;,\&quot;name\&quot;:\&quot;Consolidated Development Services_Shred 415_02.jpg\&quot;,\&quot;addedby\&quot;:\&quot;test\&quot;},{\&quot;scheme\&quot;:\&quot;image\&quot;,\&quot;id\&quot;:\&quot;86fmetm8ud5ed7ddrcufjuba79\&quot;,\&quot;tenant\&quot;:\&quot;salasobrien.canto.com\&quot;,\&quot;time\&quot;:\&quot;20221121153416000\&quot;,\&quot;name\&quot;:\&quot;Morse High School 06.jpg\&quot;,\&quot;addedby\&quot;:\&quot;test\&quot;},{\&quot;scheme\&quot;:\&quot;image\&quot;,\&quot;id\&quot;:\&quot;bgjm40htfl66ndtc4230tc3a0l\&quot;,\&quot;tenant\&quot;:\&quot;salasobrien.canto.com\&quot;,\&quot;time\&quot;:\&quot;20221129183527000\&quot;,\&quot;name\&quot;:\&quot;Circuit of the Americas_First F1 Track_32.jpg\&quot;,\&quot;addedby\&quot;:\&quot;test\&quot;},{\&quot;scheme\&quot;:\&quot;image\&quot;,\&quot;id\&quot;:\&quot;1b8f3e2fs507n9qeq8sq6vkv41\&quot;,\&quot;tenant\&quot;:\&quot;salasobrien.canto.com\&quot;,\&quot;time\&quot;:\&quot;20221129183531000\&quot;,\&quot;name\&quot;:\&quot;Circuit of the Americas_First F1 Track_42.jpg\&quot;,\&quot;addedby\&quot;:\&quot;test\&quot;},{\&quot;scheme\&quot;:\&quot;image\&quot;,\&quot;id\&quot;:\&quot;t8sd9j58nl1vl0ovu6t0dptl16\&quot;,\&quot;tenant\&quot;:\&quot;salasobrien.canto.com\&quot;,\&quot;time\&quot;:\&quot;20221121153449000\&quot;,\&quot;name\&quot;:\&quot;Morse High School 01.JPG\&quot;,\&quot;addedby\&quot;:\&quot;test\&quot;},{\&quot;scheme\&quot;:\&quot;image\&quot;,\&quot;id\&quot;:\&quot;eotcq2sb9160h0tlrrrurj283j\&quot;,\&quot;tenant\&quot;:\&quot;salasobrien.canto.com\&quot;,\&quot;time\&quot;:\&quot;20221120160836000\&quot;,\&quot;name\&quot;:\&quot;Waynflete School 06.jpg\&quot;,\&quot;addedby\&quot;:\&quot;test\&quot;},{\&quot;scheme\&quot;:\&quot;image\&quot;,\&quot;id\&quot;:\&quot;61o20udkh1613eda4k2js43d76\&quot;,\&quot;tenant\&quot;:\&quot;salasobrien.canto.com\&quot;,\&quot;time\&quot;:\&quot;20221120154328000\&quot;,\&quot;name\&quot;:\&quot;Cash Corner Fire Station 02.jpg\&quot;,\&quot;addedby\&quot;:\&quot;test\&quot;},{\&quot;scheme\&quot;:\&quot;image\&quot;,\&quot;id\&quot;:\&quot;r5bun4u4b144h2vsop1qhnje49\&quot;,\&quot;tenant\&quot;:\&quot;salasobrien.canto.com\&quot;,\&quot;time\&quot;:\&quot;20221120154326000\&quot;,\&quot;name\&quot;:\&quot;Cash Corner Fire Station 03.jpg\&quot;,\&quot;addedby\&quot;:\&quot;test\&quot;},{\&quot;scheme\&quot;:\&quot;image\&quot;,\&quot;id\&quot;:\&quot;q2mv3t16lh3snarbp6toho1u2l\&quot;,\&quot;tenant\&quot;:\&quot;salasobrien.canto.com\&quot;,\&quot;time\&quot;:\&quot;20221120154325000\&quot;,\&quot;name\&quot;:\&quot;Cash Corner Fire Station 07.jpg\&quot;,\&quot;addedby\&quot;:\&quot;test\&quot;},{\&quot;scheme\&quot;:\&quot;image\&quot;,\&quot;id\&quot;:\&quot;9dq05s2b557lj4t7lbll8vep2v\&quot;,\&quot;tenant\&quot;:\&quot;salasobrien.canto.com\&quot;,\&quot;time\&quot;:\&quot;20221117151453000\&quot;,\&quot;name\&quot;:\&quot;Diocese of Orange_Christ Cathedral_09.jpg\&quot;,\&quot;addedby\&quot;:\&quot;test\&quot;},{\&quot;scheme\&quot;:\&quot;image\&quot;,\&quot;id\&quot;:\&quot;65ra97khg13it11kh4ptecl747\&quot;,\&quot;tenant\&quot;:\&quot;salasobrien.canto.com\&quot;,\&quot;time\&quot;:\&quot;20221117151452000\&quot;,\&quot;name\&quot;:\&quot;Diocese of Orange_Christ Cathedral_11.jpg\&quot;,\&quot;addedby\&quot;:\&quot;test\&quot;},{\&quot;scheme\&quot;:\&quot;image\&quot;,\&quot;id\&quot;:\&quot;nedod4b0t90kheadtlvm84os4j\&quot;,\&quot;tenant\&quot;:\&quot;salasobrien.canto.com\&quot;,\&quot;time\&quot;:\&quot;20221116173343000\&quot;,\&quot;name\&quot;:\&quot;200 ave of the stars.jpg\&quot;,\&quot;addedby\&quot;:\&quot;test\&quot;},{\&quot;scheme\&quot;:\&quot;image\&quot;,\&quot;id\&quot;:\&quot;c9274tcfg15kv7ctcpm36ldd66\&quot;,\&quot;tenant\&quot;:\&quot;salasobrien.canto.com\&quot;,\&quot;time\&quot;:\&quot;20221117151453000\&quot;,\&quot;name\&quot;:\&quot;Diocese of Orange_Christ Cathedral_10.jpg\&quot;,\&quot;addedby\&quot;:\&quot;test\&quot;},{\&quot;scheme\&quot;:\&quot;image\&quot;,\&quot;id\&quot;:\&quot;ar65nq5re13e13fu9ahbcduj46\&quot;,\&quot;tenant\&quot;:\&quot;salasobrien.canto.com\&quot;,\&quot;time\&quot;:\&quot;20221117165535000\&quot;,\&quot;name\&quot;:\&quot;QRC-Toronto-04.jpg\&quot;,\&quot;addedby\&quot;:\&quot;test\&quot;},{\&quot;scheme\&quot;:\&quot;image\&quot;,\&quot;id\&quot;:\&quot;b2n6a6rk9p0j9b9rpe7r3ue974\&quot;,\&quot;tenant\&quot;:\&quot;salasobrien.canto.com\&quot;,\&quot;time\&quot;:\&quot;20220913184911000\&quot;,\&quot;name\&quot;:\&quot;Urbacon Ltd_45 Parliament Street Data Center_03_Dark Blue Duotone.png\&quot;,\&quot;addedby\&quot;:\&quot;test\&quot;},{\&quot;scheme\&quot;:\&quot;image\&quot;,\&quot;id\&quot;:\&quot;fb6iepcnop4ph0hfgdhmgejq29\&quot;,\&quot;tenant\&quot;:\&quot;salasobrien.canto.com\&quot;,\&quot;time\&quot;:\&quot;20221117141052000\&quot;,\&quot;name\&quot;:\&quot;Dallas Theological Seminary_Dallas Theological Seminary Chapel_05.jpg\&quot;,\&quot;addedby\&quot;:\&quot;test\&quot;},{\&quot;scheme\&quot;:\&quot;image\&quot;,\&quot;id\&quot;:\&quot;att6jjuggh41tcbq2rtqdne05c\&quot;,\&quot;tenant\&quot;:\&quot;salasobrien.canto.com\&quot;,\&quot;time\&quot;:\&quot;20220913184913000\&quot;,\&quot;name\&quot;:\&quot;Website Cover Photo_Dark Blue Duotone 45.png\&quot;,\&quot;addedby\&quot;:\&quot;test\&quot;},{\&quot;scheme\&quot;:\&quot;image\&quot;,\&quot;id\&quot;:\&quot;43vobrrd250td71okjoqto0f3n\&quot;,\&quot;tenant\&quot;:\&quot;salasobrien.canto.com\&quot;,\&quot;time\&quot;:\&quot;20221117151453000\&quot;,\&quot;name\&quot;:\&quot;Diocese of Orange_Christ Cathedral_08.jpg\&quot;,\&quot;addedby\&quot;:\&quot;test\&quot;},{\&quot;scheme\&quot;:\&quot;image\&quot;,\&quot;id\&quot;:\&quot;e3u4dteehl36dbcf9h21j71t5c\&quot;,\&quot;tenant\&quot;:\&quot;salasobrien.canto.com\&quot;,\&quot;time\&quot;:\&quot;20221117141051000\&quot;,\&quot;name\&quot;:\&quot;Dallas Theological Seminary_Dallas Theological Seminary Chapel_07.jpg\&quot;,\&quot;addedby\&quot;:\&quot;test\&quot;},{\&quot;scheme\&quot;:\&quot;image\&quot;,\&quot;id\&quot;:\&quot;0hg68nmpgt3lddcgmr1vofuf6l\&quot;,\&quot;tenant\&quot;:\&quot;salasobrien.canto.com\&quot;,\&quot;time\&quot;:\&quot;20221116121622000\&quot;,\&quot;name\&quot;:\&quot;Circuit of the Americas_First F1 Track_22.jpg\&quot;,\&quot;addedby\&quot;:\&quot;test\&quot;},{\&quot;scheme\&quot;:\&quot;image\&quot;,\&quot;id\&quot;:\&quot;kp032trc8p7kb1tsttqu0qub7u\&quot;,\&quot;tenant\&quot;:\&quot;salasobrien.canto.com\&quot;,\&quot;time\&quot;:\&quot;20221116121628000\&quot;,\&quot;name\&quot;:\&quot;Circuit of the Americas_First F1 Track_27.jpg\&quot;,\&quot;addedby\&quot;:\&quot;test\&quot;},{\&quot;scheme\&quot;:\&quot;image\&quot;,\&quot;id\&quot;:\&quot;qljpvhka492833jl782pia6p0b\&quot;,\&quot;tenant\&quot;:\&quot;salasobrien.canto.com\&quot;,\&quot;time\&quot;:\&quot;20221116112155000\&quot;,\&quot;name\&quot;:\&quot;Calvary Chapel Las Vegas_Calvary Chapel_06.jpg\&quot;,\&quot;addedby\&quot;:\&quot;test\&quot;},{\&quot;scheme\&quot;:\&quot;image\&quot;,\&quot;id\&quot;:\&quot;1170s5hb956anei8b2hn7b5733\&quot;,\&quot;tenant\&quot;:\&quot;salasobrien.canto.com\&quot;,\&quot;time\&quot;:\&quot;20221116112155000\&quot;,\&quot;name\&quot;:\&quot;Calvary Chapel Las Vegas_Calvary Chapel_07.jpg\&quot;,\&quot;addedby\&quot;:\&quot;test\&quot;},{\&quot;scheme\&quot;:\&quot;image\&quot;,\&quot;id\&quot;:\&quot;muhl5optf56q97psuomlltvv78\&quot;,\&quot;tenant\&quot;:\&quot;salasobrien.canto.com\&quot;,\&quot;time\&quot;:\&quot;20221116112158000\&quot;,\&quot;name\&quot;:\&quot;Calvary Chapel Las Vegas_Calvary Chapel_09.jpg\&quot;,\&quot;addedby\&quot;:\&quot;test\&quot;},{\&quot;scheme\&quot;:\&quot;image\&quot;,\&quot;id\&quot;:\&quot;ha3os93j8d7ohdg83rpu6n1739\&quot;,\&quot;tenant\&quot;:\&quot;salasobrien.canto.com\&quot;,\&quot;time\&quot;:\&quot;20221108185845000\&quot;,\&quot;name\&quot;:\&quot;County of Santa Clara_Solar Site Assessments_36.jpg\&quot;,\&quot;addedby\&quot;:\&quot;test\&quot;},{\&quot;scheme\&quot;:\&quot;image\&quot;,\&quot;id\&quot;:\&quot;jcl5k2ep195lt4i2aaoflnjh55\&quot;,\&quot;tenant\&quot;:\&quot;salasobrien.canto.com\&quot;,\&quot;time\&quot;:\&quot;20221116180806000\&quot;,\&quot;name\&quot;:\&quot;Ed Stubbs.jpg\&quot;,\&quot;addedby\&quot;:\&quot;test\&quot;},{\&quot;scheme\&quot;:\&quot;image\&quot;,\&quot;id\&quot;:\&quot;9f8ag1noe93pb16vgl9vrtul1o\&quot;,\&quot;tenant\&quot;:\&quot;salasobrien.canto.com\&quot;,\&quot;time\&quot;:\&quot;20221228170200000\&quot;,\&quot;name\&quot;:\&quot;KA_Morgan Stanley 2775 Sand Hill, Front Building_01.png\&quot;,\&quot;addedby\&quot;:\&quot;test\&quot;},{\&quot;scheme\&quot;:\&quot;image\&quot;,\&quot;id\&quot;:\&quot;9t4kqa5dsp06r68ere49c1706f\&quot;,\&quot;tenant\&quot;:\&quot;salasobrien.canto.com\&quot;,\&quot;time\&quot;:\&quot;20220913184911000\&quot;,\&quot;name\&quot;:\&quot;PowerPoint Cover_Dark Blue Angle.png\&quot;,\&quot;addedby\&quot;:\&quot;test\&quot;},{\&quot;scheme\&quot;:\&quot;image\&quot;,\&quot;id\&quot;:\&quot;tp2gnddg9h4ot7fckim4go132e\&quot;,\&quot;tenant\&quot;:\&quot;salasobrien.canto.com\&quot;,\&quot;time\&quot;:\&quot;20221024204835000\&quot;,\&quot;name\&quot;:\&quot;SalasOBrien_Logo_Stacked_Black.png\&quot;,\&quot;addedby\&quot;:\&quot;test\&quot;},{\&quot;scheme\&quot;:\&quot;image\&quot;,\&quot;id\&quot;:\&quot;h20hr3ul9h49r7i6njqhnh806d\&quot;,\&quot;tenant\&quot;:\&quot;salasobrien.canto.com\&quot;,\&quot;time\&quot;:\&quot;20221024204551000\&quot;,\&quot;name\&quot;:\&quot;SalasOBrien_Logo_Stacked_Color.ai\&quot;,\&quot;addedby\&quot;:\&quot;test\&quot;},{\&quot;scheme\&quot;:\&quot;image\&quot;,\&quot;id\&quot;:\&quot;7pebbk8okt44bepa6bubv7n464\&quot;,\&quot;tenant\&quot;:\&quot;salasobrien.canto.com\&quot;,\&quot;time\&quot;:\&quot;20220812135548000\&quot;,\&quot;name\&quot;:\&quot;SalasOBrien_Logo Mark_Impact Blue.ai\&quot;,\&quot;addedby\&quot;:\&quot;test\&quot;},{\&quot;scheme\&quot;:\&quot;image\&quot;,\&quot;id\&quot;:\&quot;05t338fij16gl3nb8fjl9eqp5e\&quot;,\&quot;tenant\&quot;:\&quot;salasobrien.canto.com\&quot;,\&quot;time\&quot;:\&quot;20220812135453000\&quot;,\&quot;name\&quot;:\&quot;SalasOBrien_Logo Mark_White.ai\&quot;,\&quot;addedby\&quot;:\&quot;test\&quot;},{\&quot;scheme\&quot;:\&quot;image\&quot;,\&quot;id\&quot;:\&quot;6oofhaf8j93rvavoiieddbci2h\&quot;,\&quot;tenant\&quot;:\&quot;salasobrien.canto.com\&quot;,\&quot;time\&quot;:\&quot;20221230184050000\&quot;,\&quot;name\&quot;:\&quot;SalasOBrien_Logo Mark_Dark Blue.eps\&quot;,\&quot;addedby\&quot;:\&quot;test\&quot;},{\&quot;scheme\&quot;:\&quot;image\&quot;,\&quot;id\&quot;:\&quot;0ht0pn28jl6jndknctk9r64j7g\&quot;,\&quot;tenant\&quot;:\&quot;salasobrien.canto.com\&quot;,\&quot;time\&quot;:\&quot;20221230152400000\&quot;,\&quot;name\&quot;:\&quot;SalasOBrien_Logo Mark_Dark Blue.png\&quot;,\&quot;addedby\&quot;:\&quot;test\&quot;},{\&quot;scheme\&quot;:\&quot;image\&quot;,\&quot;id\&quot;:\&quot;f4v9s2g7fh3vh0qhrtug1kfl2g\&quot;,\&quot;tenant\&quot;:\&quot;salasobrien.canto.com\&quot;,\&quot;time\&quot;:\&quot;20221230152400000\&quot;,\&quot;name\&quot;:\&quot;SalasOBrien_Logo Mark_Impact Blue.png\&quot;,\&quot;addedby\&quot;:\&quot;test\&quot;},{\&quot;scheme\&quot;:\&quot;image\&quot;,\&quot;id\&quot;:\&quot;2crpldpr4l6b56606a1lpe5v6f\&quot;,\&quot;tenant\&quot;:\&quot;salasobrien.canto.com\&quot;,\&quot;time\&quot;:\&quot;20221024204835000\&quot;,\&quot;name\&quot;:\&quot;SalasOBrien_Logo_Stacked_Color.png\&quot;,\&quot;addedby\&quot;:\&quot;test\&quot;},{\&quot;scheme\&quot;:\&quot;image\&quot;,\&quot;id\&quot;:\&quot;aacunu2cql3gd22503eqsvhs37\&quot;,\&quot;tenant\&quot;:\&quot;salasobrien.canto.com\&quot;,\&quot;time\&quot;:\&quot;20230116151450000\&quot;,\&quot;name\&quot;:\&quot;Midtown-Yonge Properties Inc._1 St. Clair Ave W_02.jpg\&quot;,\&quot;addedby\&quot;:\&quot;test\&quot;},{\&quot;scheme\&quot;:\&quot;image\&quot;,\&quot;id\&quot;:\&quot;vfb9dcchsl0cb4716gboqku173\&quot;,\&quot;tenant\&quot;:\&quot;salasobrien.canto.com\&quot;,\&quot;time\&quot;:\&quot;20230109174138000\&quot;,\&quot;name\&quot;:\&quot;Perimeter Dev Corp_Breithaupt Block_03.jpg\&quot;,\&quot;addedby\&quot;:\&quot;test\&quot;},{\&quot;scheme\&quot;:\&quot;image\&quot;,\&quot;id\&quot;:\&quot;q6pc51l4fl7mr2c3umoq4eru31\&quot;,\&quot;tenant\&quot;:\&quot;salasobrien.canto.com\&quot;,\&quot;time\&quot;:\&quot;20230109174138000\&quot;,\&quot;name\&quot;:\&quot;Perimeter Dev Corp_Breithaupt Block_01.jpg\&quot;,\&quot;addedby\&quot;:\&quot;test\&quot;},{\&quot;scheme\&quot;:\&quot;image\&quot;,\&quot;id\&quot;:\&quot;a302idk4tp0nj6th2rfkc3p36t\&quot;,\&quot;tenant\&quot;:\&quot;salasobrien.canto.com\&quot;,\&quot;time\&quot;:\&quot;20221216165257000\&quot;,\&quot;name\&quot;:\&quot;Denver Art Museum Renovation_01.jpg\&quot;,\&quot;addedby\&quot;:\&quot;test\&quot;},{\&quot;scheme\&quot;:\&quot;image\&quot;,\&quot;id\&quot;:\&quot;lh88qu179p7s7b3vdasov4mv1p\&quot;,\&quot;tenant\&quot;:\&quot;salasobrien.canto.com\&quot;,\&quot;time\&quot;:\&quot;20221205173447000\&quot;,\&quot;name\&quot;:\&quot;StilesHensler_Peabody Union_02.PNG\&quot;,\&quot;addedby\&quot;:\&quot;test\&quot;},{\&quot;scheme\&quot;:\&quot;image\&quot;,\&quot;id\&quot;:\&quot;bd7tlp5mnh1tb0039v5o19rl14\&quot;,\&quot;tenant\&quot;:\&quot;salasobrien.canto.com\&quot;,\&quot;time\&quot;:\&quot;20221108174736000\&quot;,\&quot;name\&quot;:\&quot;Gilead_Wellbeing Center_03.jpg\&quot;,\&quot;addedby\&quot;:\&quot;test\&quot;},{\&quot;scheme\&quot;:\&quot;image\&quot;,\&quot;id\&quot;:\&quot;avnu7bs9sd65fcr3rgfu1shq60\&quot;,\&quot;tenant\&quot;:\&quot;salasobrien.canto.com\&quot;,\&quot;time\&quot;:\&quot;20221108174736000\&quot;,\&quot;name\&quot;:\&quot;Gilead_Wellbeing Center_02.jpg\&quot;,\&quot;addedby\&quot;:\&quot;test\&quot;},{\&quot;scheme\&quot;:\&quot;image\&quot;,\&quot;id\&quot;:\&quot;936u3cr8qd3kp1pa0ee4s78c7h\&quot;,\&quot;tenant\&quot;:\&quot;salasobrien.canto.com\&quot;,\&quot;time\&quot;:\&quot;20221205090414000\&quot;,\&quot;name\&quot;:\&quot;City of New Haven_Engineering and Science Magnet School_14.tif\&quot;,\&quot;addedby\&quot;:\&quot;test\&quot;},{\&quot;scheme\&quot;:\&quot;image\&quot;,\&quot;id\&quot;:\&quot;oh052apnt57d7fubgu21hcle1n\&quot;,\&quot;tenant\&quot;:\&quot;salasobrien.canto.com\&quot;,\&quot;time\&quot;:\&quot;20221205085928000\&quot;,\&quot;name\&quot;:\&quot;City of New Haven_Engineering and Science Magnet School_06.tif\&quot;,\&quot;addedby\&quot;:\&quot;test\&quot;},{\&quot;scheme\&quot;:\&quot;image\&quot;,\&quot;id\&quot;:\&quot;o8s41egt6174f0p6as9ltrjs7d\&quot;,\&quot;tenant\&quot;:\&quot;salasobrien.canto.com\&quot;,\&quot;time\&quot;:\&quot;20221205090001000\&quot;,\&quot;name\&quot;:\&quot;City of New Haven_Engineering and Science Magnet School_07.tif\&quot;,\&quot;addedby\&quot;:\&quot;test\&quot;},{\&quot;scheme\&quot;:\&quot;image\&quot;,\&quot;id\&quot;:\&quot;vn3jfb6mol7nf2np1hef6h6d4q\&quot;,\&quot;tenant\&quot;:\&quot;salasobrien.canto.com\&quot;,\&quot;time\&quot;:\&quot;20221205085849000\&quot;,\&quot;name\&quot;:\&quot;City of New Haven_Engineering and Science Magnet School_05.tif\&quot;,\&quot;addedby\&quot;:\&quot;test\&quot;},{\&quot;scheme\&quot;:\&quot;image\&quot;,\&quot;id\&quot;:\&quot;557aciud196a1c4ag96hqedr0c\&quot;,\&quot;tenant\&quot;:\&quot;salasobrien.canto.com\&quot;,\&quot;time\&quot;:\&quot;20221025165607000\&quot;,\&quot;name\&quot;:\&quot;BioMarin_Project Faith Gene Manufacturing Facility_03.jpg\&quot;,\&quot;addedby\&quot;:\&quot;test\&quot;},{\&quot;scheme\&quot;:\&quot;image\&quot;,\&quot;id\&quot;:\&quot;2to53unb3d3h3erf71inbkc86r\&quot;,\&quot;tenant\&quot;:\&quot;salasobrien.canto.com\&quot;,\&quot;time\&quot;:\&quot;20221025170125000\&quot;,\&quot;name\&quot;:\&quot;494 Forbes_02.jpg\&quot;,\&quot;addedby\&quot;:\&quot;test\&quot;},{\&quot;scheme\&quot;:\&quot;image\&quot;,\&quot;id\&quot;:\&quot;p6sgqou2d51p314jll12cuup5d\&quot;,\&quot;tenant\&quot;:\&quot;salasobrien.canto.com\&quot;,\&quot;time\&quot;:\&quot;20221019181953000\&quot;,\&quot;name\&quot;:\&quot;Sangamo_Headquarters_02.jpg\&quot;,\&quot;addedby\&quot;:\&quot;test\&quot;},{\&quot;scheme\&quot;:\&quot;image\&quot;,\&quot;id\&quot;:\&quot;omujbs32mt737fa4gl117qkg61\&quot;,\&quot;tenant\&quot;:\&quot;salasobrien.canto.com\&quot;,\&quot;time\&quot;:\&quot;20221019181953000\&quot;,\&quot;name\&quot;:\&quot;Sangamo_Headquarters_01.jpg\&quot;,\&quot;addedby\&quot;:\&quot;test\&quot;},{\&quot;scheme\&quot;:\&quot;image\&quot;,\&quot;id\&quot;:\&quot;3mqtsrl7st2v130gb183drmv3h\&quot;,\&quot;tenant\&quot;:\&quot;salasobrien.canto.com\&quot;,\&quot;time\&quot;:\&quot;20220826180016000\&quot;,\&quot;name\&quot;:\&quot;Bureau of Alcohol, Tobacco and Firearms (ATF)_New Fire Research Lab_01.gif\&quot;,\&quot;addedby\&quot;:\&quot;test\&quot;},{\&quot;scheme\&quot;:\&quot;image\&quot;,\&quot;id\&quot;:\&quot;73d54b43al1e1d84gm715c3v45\&quot;,\&quot;tenant\&quot;:\&quot;salasobrien.canto.com\&quot;,\&quot;time\&quot;:\&quot;20220816102104000\&quot;,\&quot;name\&quot;:\&quot;University of California_UC Davis Teaching &amp; Research Winery_08.jpg\&quot;,\&quot;addedby\&quot;:\&quot;test\&quot;},{\&quot;scheme\&quot;:\&quot;image\&quot;,\&quot;id\&quot;:\&quot;6oovo0c23h2ed4ps0bhoi3t67j\&quot;,\&quot;tenant\&quot;:\&quot;salasobrien.canto.com\&quot;,\&quot;time\&quot;:\&quot;20220816102102000\&quot;,\&quot;name\&quot;:\&quot;University of California_UC Davis Teaching &amp; Research Winery_01.jpg\&quot;,\&quot;addedby\&quot;:\&quot;test\&quot;},{\&quot;scheme\&quot;:\&quot;image\&quot;,\&quot;id\&quot;:\&quot;t4p714pon908966rlo4q9tfu11\&quot;,\&quot;tenant\&quot;:\&quot;salasobrien.canto.com\&quot;,\&quot;time\&quot;:\&quot;20220816102011000\&quot;,\&quot;name\&quot;:\&quot;Sandia National Laboratories_Computational Combustion Research Lab_08.jpg\&quot;,\&quot;addedby\&quot;:\&quot;test\&quot;},{\&quot;scheme\&quot;:\&quot;image\&quot;,\&quot;id\&quot;:\&quot;2uo3ovuk2l52rf9kq0vc43cf00\&quot;,\&quot;tenant\&quot;:\&quot;salasobrien.canto.com\&quot;,\&quot;time\&quot;:\&quot;20220816101802000\&quot;,\&quot;name\&quot;:\&quot;LabCorp_Headquarters Laboratory_04.jpg\&quot;,\&quot;addedby\&quot;:\&quot;test\&quot;},{\&quot;scheme\&quot;:\&quot;image\&quot;,\&quot;id\&quot;:\&quot;kfuirr74g110703rhf5u317n7h\&quot;,\&quot;tenant\&quot;:\&quot;salasobrien.canto.com\&quot;,\&quot;time\&quot;:\&quot;20221110092549000\&quot;,\&quot;name\&quot;:\&quot;Central Maine Healthcare_ Cancer Center MOB_06.jpg\&quot;,\&quot;addedby\&quot;:\&quot;test\&quot;},{\&quot;scheme\&quot;:\&quot;image\&quot;,\&quot;id\&quot;:\&quot;rrgp8ucjfp57vcfic6eo1eti4a\&quot;,\&quot;tenant\&quot;:\&quot;salasobrien.canto.com\&quot;,\&quot;time\&quot;:\&quot;20221110092559000\&quot;,\&quot;name\&quot;:\&quot;Central Maine Healthcare_ Cancer Center MOB_05.jpg\&quot;,\&quot;addedby\&quot;:\&quot;test\&quot;},{\&quot;scheme\&quot;:\&quot;image\&quot;,\&quot;id\&quot;:\&quot;8h4fn2ha590obd1nuk8v6nl25l\&quot;,\&quot;tenant\&quot;:\&quot;salasobrien.canto.com\&quot;,\&quot;time\&quot;:\&quot;20221012195420000\&quot;,\&quot;name\&quot;:\&quot;Perkins&amp;Will - Kirkland Ellis_01.jpg\&quot;,\&quot;addedby\&quot;:\&quot;test\&quot;},{\&quot;scheme\&quot;:\&quot;image\&quot;,\&quot;id\&quot;:\&quot;b56ddn5vbt48behr4ptimeco18\&quot;,\&quot;tenant\&quot;:\&quot;salasobrien.canto.com\&quot;,\&quot;time\&quot;:\&quot;20220816102037000\&quot;,\&quot;name\&quot;:\&quot;Stock Photo_Data Centers_01.png\&quot;,\&quot;addedby\&quot;:\&quot;test\&quot;},{\&quot;scheme\&quot;:\&quot;image\&quot;,\&quot;id\&quot;:\&quot;4pa32gis2p2l50pqsi16mbtf4n\&quot;,\&quot;tenant\&quot;:\&quot;salasobrien.canto.com\&quot;,\&quot;time\&quot;:\&quot;20230118124640000\&quot;,\&quot;name\&quot;:\&quot;SCSU_Health and Human Services Building_ (2).jpg\&quot;,\&quot;addedby\&quot;:\&quot;test\&quot;},{\&quot;scheme\&quot;:\&quot;image\&quot;,\&quot;id\&quot;:\&quot;cim2e0n1qd1hn2uesm2hf8if7l\&quot;,\&quot;tenant\&quot;:\&quot;salasobrien.canto.com\&quot;,\&quot;time\&quot;:\&quot;20230119193644000\&quot;,\&quot;name\&quot;:\&quot;CountyofSantaClara_EVCharging_03.JPG\&quot;,\&quot;addedby\&quot;:\&quot;test\&quot;},{\&quot;scheme\&quot;:\&quot;image\&quot;,\&quot;id\&quot;:\&quot;oilirndf157qva7md9ic317i3i\&quot;,\&quot;tenant\&quot;:\&quot;salasobrien.canto.com\&quot;,\&quot;time\&quot;:\&quot;20230119193316000\&quot;,\&quot;name\&quot;:\&quot;CountyofSantaClara_EVCharging_01.JPG\&quot;,\&quot;addedby\&quot;:\&quot;test\&quot;},{\&quot;scheme\&quot;:\&quot;image\&quot;,\&quot;id\&quot;:\&quot;s7boqcdhah2658bkj3pqj28f2p\&quot;,\&quot;tenant\&quot;:\&quot;salasobrien.canto.com\&quot;,\&quot;time\&quot;:\&quot;20230119140238000\&quot;,\&quot;name\&quot;:\&quot;YRDSB_Alexander Muir Public School_01.jpg\&quot;,\&quot;addedby\&quot;:\&quot;test\&quot;},{\&quot;scheme\&quot;:\&quot;image\&quot;,\&quot;id\&quot;:\&quot;gpcvaff13h4c9aqvpj7hj39q1c\&quot;,\&quot;tenant\&quot;:\&quot;salasobrien.canto.com\&quot;,\&quot;time\&quot;:\&quot;20221208112042000\&quot;,\&quot;name\&quot;:\&quot;LeadershipandTechCon2022_speakers_mar22_083.jpg\&quot;,\&quot;addedby\&quot;:\&quot;test\&quot;},{\&quot;scheme\&quot;:\&quot;image\&quot;,\&quot;id\&quot;:\&quot;c6t1n5a5m15qpcb6ebi20lsa1d\&quot;,\&quot;tenant\&quot;:\&quot;salasobrien.canto.com\&quot;,\&quot;time\&quot;:\&quot;20230118124704000\&quot;,\&quot;name\&quot;:\&quot;SCSU_Health and Human Services Building_ (41).jpg\&quot;,\&quot;addedby\&quot;:\&quot;test\&quot;},{\&quot;scheme\&quot;:\&quot;image\&quot;,\&quot;id\&quot;:\&quot;esa1g9t0id6ehb0bfe7j2qc83e\&quot;,\&quot;tenant\&quot;:\&quot;salasobrien.canto.com\&quot;,\&quot;time\&quot;:\&quot;20230202122907000\&quot;,\&quot;name\&quot;:\&quot;SalasOBrien_Logo_Color_CMYK_With_Trademark.ai\&quot;,\&quot;addedby\&quot;:\&quot;test\&quot;},{\&quot;scheme\&quot;:\&quot;image\&quot;,\&quot;id\&quot;:\&quot;1ccmq2rnk56ehelo825u577m3a\&quot;,\&quot;tenant\&quot;:\&quot;salasobrien.canto.com\&quot;,\&quot;time\&quot;:\&quot;20230322123834000\&quot;,\&quot;name\&quot;:\&quot;Darin_Anderson_12.jpg\&quot;,\&quot;addedby\&quot;:\&quot;test\&quot;},{\&quot;scheme\&quot;:\&quot;image\&quot;,\&quot;id\&quot;:\&quot;mshulhpag92fldu6pnim6ngt00\&quot;,\&quot;tenant\&quot;:\&quot;salasobrien.canto.com\&quot;,\&quot;time\&quot;:\&quot;20230213182137000\&quot;,\&quot;name\&quot;:\&quot;SalasOBrien_Logo_Black.svg\&quot;,\&quot;addedby\&quot;:\&quot;test\&quot;},{\&quot;scheme\&quot;:\&quot;image\&quot;,\&quot;id\&quot;:\&quot;p55qon2v556138vq707h062i37\&quot;,\&quot;tenant\&quot;:\&quot;salasobrien.canto.com\&quot;,\&quot;time\&quot;:\&quot;20221230184052000\&quot;,\&quot;name\&quot;:\&quot;SalasOBrien_Logmark_Impact Blue.eps\&quot;,\&quot;addedby\&quot;:\&quot;test\&quot;},{\&quot;scheme\&quot;:\&quot;image\&quot;,\&quot;id\&quot;:\&quot;6fh2j1i0ht5irbmqif8ndus82r\&quot;,\&quot;tenant\&quot;:\&quot;salasobrien.canto.com\&quot;,\&quot;time\&quot;:\&quot;20221230184051000\&quot;,\&quot;name\&quot;:\&quot;SalasOBrien_Logomark_White.eps\&quot;,\&quot;addedby\&quot;:\&quot;test\&quot;},{\&quot;scheme\&quot;:\&quot;image\&quot;,\&quot;id\&quot;:\&quot;pnecc1qcvt5ffe2hrkes34mj7i\&quot;,\&quot;tenant\&quot;:\&quot;salasobrien.canto.com\&quot;,\&quot;time\&quot;:\&quot;20230623130214000\&quot;,\&quot;name\&quot;:\&quot;Carillion Canada_ Forensics and Coroners Complex (2).jpg\&quot;,\&quot;addedby\&quot;:\&quot;test\&quot;},{\&quot;scheme\&quot;:\&quot;image\&quot;,\&quot;id\&quot;:\&quot;7u3gdb01ld4a5ek7hrrfmhal6c\&quot;,\&quot;tenant\&quot;:\&quot;salasobrien.canto.com\&quot;,\&quot;time\&quot;:\&quot;20230621114337000\&quot;,\&quot;name\&quot;:\&quot;Zoo Atlanta_Complex Carnivores and Trader's Alley_02.jpg\&quot;,\&quot;addedby\&quot;:\&quot;test\&quot;},{\&quot;scheme\&quot;:\&quot;image\&quot;,\&quot;id\&quot;:\&quot;4alak9lj0p251ajs2joem3e13a\&quot;,\&quot;tenant\&quot;:\&quot;salasobrien.canto.com\&quot;,\&quot;time\&quot;:\&quot;20230616175232000\&quot;,\&quot;name\&quot;:\&quot;City of Colorado Springs_Park Union Bridge_04.jpg\&quot;,\&quot;addedby\&quot;:\&quot;test\&quot;},{\&quot;scheme\&quot;:\&quot;image\&quot;,\&quot;id\&quot;:\&quot;m8pa40pv8t30v12nj9a70mrk07\&quot;,\&quot;tenant\&quot;:\&quot;salasobrien.canto.com\&quot;,\&quot;time\&quot;:\&quot;20230615115300000\&quot;,\&quot;name\&quot;:\&quot;MWAA_Substation and MEP Term.indd\&quot;,\&quot;addedby\&quot;:\&quot;test\&quot;},{\&quot;scheme\&quot;:\&quot;image\&quot;,\&quot;id\&quot;:\&quot;bfvvn5142149j72t8bsra10g0n\&quot;,\&quot;tenant\&quot;:\&quot;salasobrien.canto.com\&quot;,\&quot;time\&quot;:\&quot;20230412164637000\&quot;,\&quot;name\&quot;:\&quot;Lonetree Pedestrian Bridge_15.JPG\&quot;,\&quot;addedby\&quot;:\&quot;test\&quot;},{\&quot;scheme\&quot;:\&quot;image\&quot;,\&quot;id\&quot;:\&quot;eud1p32c7h35l02rhu214gca0k\&quot;,\&quot;tenant\&quot;:\&quot;salasobrien.canto.com\&quot;,\&quot;time\&quot;:\&quot;20230210183118000\&quot;,\&quot;name\&quot;:\&quot;Crunchyroll_World Headquarters_61.jpg\&quot;,\&quot;addedby\&quot;:\&quot;test\&quot;},{\&quot;scheme\&quot;:\&quot;image\&quot;,\&quot;id\&quot;:\&quot;r3ipkl5p2d54r2v2knrr3uos67\&quot;,\&quot;tenant\&quot;:\&quot;salasobrien.canto.com\&quot;,\&quot;time\&quot;:\&quot;20230210183219000\&quot;,\&quot;name\&quot;:\&quot;Crunchyroll_World Headquarters_62.jpg\&quot;,\&quot;addedby\&quot;:\&quot;test\&quot;},{\&quot;scheme\&quot;:\&quot;image\&quot;,\&quot;id\&quot;:\&quot;2047t6rbe91mb0fppcdosbq115\&quot;,\&quot;tenant\&quot;:\&quot;salasobrien.canto.com\&quot;,\&quot;time\&quot;:\&quot;20230621114338000\&quot;,\&quot;name\&quot;:\&quot;Zoo Atlanta_Complex Carnivores and Trader's Alley_09.jpg\&quot;,\&quot;addedby\&quot;:\&quot;test\&quot;},{\&quot;scheme\&quot;:\&quot;image\&quot;,\&quot;id\&quot;:\&quot;cf23dl81h56lt4l6l7tnnmus06\&quot;,\&quot;tenant\&quot;:\&quot;salasobrien.canto.com\&quot;,\&quot;time\&quot;:\&quot;20230620165544000\&quot;,\&quot;name\&quot;:\&quot;MontgomerySisam_OntarioMissionoftheDeaf_1.jpg\&quot;,\&quot;addedby\&quot;:\&quot;test\&quot;},{\&quot;scheme\&quot;:\&quot;image\&quot;,\&quot;id\&quot;:\&quot;bdi7hotr2t63r3ni04u991r86l\&quot;,\&quot;tenant\&quot;:\&quot;salasobrien.canto.com\&quot;,\&quot;time\&quot;:\&quot;20230616175150000\&quot;,\&quot;name\&quot;:\&quot;City of Colorado Springs_Park Union Bridge_01.jpg\&quot;,\&quot;addedby\&quot;:\&quot;test\&quot;},{\&quot;scheme\&quot;:\&quot;image\&quot;,\&quot;id\&quot;:\&quot;avti6q7koh0dh2547r6neioo6l\&quot;,\&quot;tenant\&quot;:\&quot;salasobrien.canto.com\&quot;,\&quot;time\&quot;:\&quot;20230413173044000\&quot;,\&quot;name\&quot;:\&quot;BMW Canada Corporation_Double Impact Blue Duotone RGB.png\&quot;,\&quot;addedby\&quot;:\&quot;test\&quot;},{\&quot;scheme\&quot;:\&quot;image\&quot;,\&quot;id\&quot;:\&quot;v38q3nna815m131kmm57mqr27f\&quot;,\&quot;tenant\&quot;:\&quot;salasobrien.canto.com\&quot;,\&quot;time\&quot;:\&quot;20230413172056000\&quot;,\&quot;name\&quot;:\&quot;Landlease Group_RGB Dark Blue Duotone.png\&quot;,\&quot;addedby\&quot;:\&quot;test\&quot;},{\&quot;scheme\&quot;:\&quot;image\&quot;,\&quot;id\&quot;:\&quot;bvh83tig196g97rhdmsa13et27\&quot;,\&quot;tenant\&quot;:\&quot;salasobrien.canto.com\&quot;,\&quot;time\&quot;:\&quot;20230710174410000\&quot;,\&quot;name\&quot;:\&quot;Houston Food Bank.jpg\&quot;,\&quot;addedby\&quot;:\&quot;test\&quot;},{\&quot;scheme\&quot;:\&quot;image\&quot;,\&quot;id\&quot;:\&quot;8kf4jkdrgl4s3cfse6i9j5ts23\&quot;,\&quot;tenant\&quot;:\&quot;salasobrien.canto.com\&quot;,\&quot;time\&quot;:\&quot;20230413172722000\&quot;,\&quot;name\&quot;:\&quot;UMass Amherst-RGB Black Double Duotone.png\&quot;,\&quot;addedby\&quot;:\&quot;test\&quot;},{\&quot;scheme\&quot;:\&quot;image\&quot;,\&quot;id\&quot;:\&quot;ndrrfqn1550vpegl5dv5s12o3f\&quot;,\&quot;tenant\&quot;:\&quot;salasobrien.canto.com\&quot;,\&quot;time\&quot;:\&quot;20230413180307000\&quot;,\&quot;name\&quot;:\&quot;AT&amp;T Discovery-RGB Black Double Duotone.png\&quot;,\&quot;addedby\&quot;:\&quot;test\&quot;},{\&quot;scheme\&quot;:\&quot;image\&quot;,\&quot;id\&quot;:\&quot;udd4o176dt4r58c92bqge26v2o\&quot;,\&quot;tenant\&quot;:\&quot;salasobrien.canto.com\&quot;,\&quot;time\&quot;:\&quot;20230410173401000\&quot;,\&quot;name\&quot;:\&quot;SalasOBrien_Logo_Color_RGB.png\&quot;,\&quot;addedby\&quot;:\&quot;test\&quot;},{\&quot;scheme\&quot;:\&quot;image\&quot;,\&quot;id\&quot;:\&quot;3v872iiksh5drcnbe0t33p2m6h\&quot;,\&quot;tenant\&quot;:\&quot;salasobrien.canto.com\&quot;,\&quot;time\&quot;:\&quot;20230906115408000\&quot;,\&quot;name\&quot;:\&quot;MEP_Giants_Award_Icon_With_Ranking_Gray 1.ai\&quot;,\&quot;addedby\&quot;:\&quot;test\&quot;},{\&quot;scheme\&quot;:\&quot;image\&quot;,\&quot;id\&quot;:\&quot;acj6kef2l10i34g84du46ktm36\&quot;,\&quot;tenant\&quot;:\&quot;salasobrien.canto.com\&quot;,\&quot;time\&quot;:\&quot;20240221134415000\&quot;,\&quot;name\&quot;:\&quot;SalasOBrien_Logo_Color_RGB.jpg\&quot;,\&quot;addedby\&quot;:\&quot;test\&quot;},{\&quot;scheme\&quot;:\&quot;image\&quot;,\&quot;id\&quot;:\&quot;2ulm87miqp2gn7dnn6b735km27\&quot;,\&quot;tenant\&quot;:\&quot;salasobrien.canto.com\&quot;,\&quot;time\&quot;:\&quot;20240221120455000\&quot;,\&quot;name\&quot;:\&quot;SalasOBrien_Logo_Color_RGB.svg\&quot;,\&quot;addedby\&quot;:\&quot;test\&quot;},{\&quot;scheme\&quot;:\&quot;image\&quot;,\&quot;id\&quot;:\&quot;06g7lc8hc14ap034jv1d8t1s6i\&quot;,\&quot;tenant\&quot;:\&quot;salasobrien.canto.com\&quot;,\&quot;time\&quot;:\&quot;20230410203336000\&quot;,\&quot;name\&quot;:\&quot;PowerPoint_Style_1_Cover_5.png\&quot;,\&quot;addedby\&quot;:\&quot;test\&quot;},{\&quot;scheme\&quot;:\&quot;image\&quot;,\&quot;id\&quot;:\&quot;modn7r5dct2v320dv188h2t050\&quot;,\&quot;tenant\&quot;:\&quot;salasobrien.canto.com\&quot;,\&quot;time\&quot;:\&quot;20230410203756000\&quot;,\&quot;name\&quot;:\&quot;PowerPoint_Style_1_Cover_1.png\&quot;,\&quot;addedby\&quot;:\&quot;test\&quot;}]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775D686AFD084D9E7E9267BA1F81E3" ma:contentTypeVersion="4" ma:contentTypeDescription="Create a new document." ma:contentTypeScope="" ma:versionID="47f204501a9ae13abdd8b2c4b241671a">
  <xsd:schema xmlns:xsd="http://www.w3.org/2001/XMLSchema" xmlns:xs="http://www.w3.org/2001/XMLSchema" xmlns:p="http://schemas.microsoft.com/office/2006/metadata/properties" xmlns:ns2="8d49d8f6-0bc4-4cdb-8864-610fff40852d" targetNamespace="http://schemas.microsoft.com/office/2006/metadata/properties" ma:root="true" ma:fieldsID="7761c07922af45c54111ce5545f044cb" ns2:_="">
    <xsd:import namespace="8d49d8f6-0bc4-4cdb-8864-610fff408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49d8f6-0bc4-4cdb-8864-610fff4085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C3D560-288F-42CC-BCF0-9E4518BB2A4B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8d49d8f6-0bc4-4cdb-8864-610fff40852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936EF0D-FA46-48F1-9B2C-DCBD55FA0C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49d8f6-0bc4-4cdb-8864-610fff408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A635D0-1254-4EA8-8E6D-54E6906BFF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 Style 1-Arial</Template>
  <TotalTime>39762</TotalTime>
  <Words>186</Words>
  <Application>Microsoft Office PowerPoint</Application>
  <PresentationFormat>Widescreen</PresentationFormat>
  <Paragraphs>29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5</vt:i4>
      </vt:variant>
    </vt:vector>
  </HeadingPairs>
  <TitlesOfParts>
    <vt:vector size="23" baseType="lpstr">
      <vt:lpstr>Arial</vt:lpstr>
      <vt:lpstr>Söhne</vt:lpstr>
      <vt:lpstr>Söhne Leicht</vt:lpstr>
      <vt:lpstr>Wingdings 3</vt:lpstr>
      <vt:lpstr>Söhne Halbfett</vt:lpstr>
      <vt:lpstr>Trebuchet MS</vt:lpstr>
      <vt:lpstr>Söhne Kräftig</vt:lpstr>
      <vt:lpstr>Calibri</vt:lpstr>
      <vt:lpstr>Title Slide and Section Intro</vt:lpstr>
      <vt:lpstr>Basic Content Layouts</vt:lpstr>
      <vt:lpstr>Infographic Layouts</vt:lpstr>
      <vt:lpstr>Project Profile Layouts</vt:lpstr>
      <vt:lpstr>Firm Information</vt:lpstr>
      <vt:lpstr>Merger Layouts</vt:lpstr>
      <vt:lpstr>HR Layouts</vt:lpstr>
      <vt:lpstr>Quote Layouts</vt:lpstr>
      <vt:lpstr>Questions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Siavash Habibi</dc:creator>
  <cp:lastModifiedBy>Siavash Habibi</cp:lastModifiedBy>
  <cp:revision>187</cp:revision>
  <dcterms:created xsi:type="dcterms:W3CDTF">2024-09-03T17:05:26Z</dcterms:created>
  <dcterms:modified xsi:type="dcterms:W3CDTF">2026-02-11T13:45:09Z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0x010100C4775D686AFD084D9E7E9267BA1F81E3</vt:lpwstr>
  </property>
  <property fmtid="{D5CDD505-2E9C-101B-9397-08002B2CF9AE}" pid="3" name="MediaServiceImageTags">
    <vt:lpwstr/>
  </property>
  <property fmtid="{D5CDD505-2E9C-101B-9397-08002B2CF9AE}" pid="4" name="Order">
    <vt:lpwstr>5041400.00000000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